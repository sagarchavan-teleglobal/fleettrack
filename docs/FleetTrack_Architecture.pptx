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C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64008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275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FleetTrack —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86384"/>
            <a:ext cx="8275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DE6"/>
                </a:solidFill>
                <a:latin typeface="Segoe UI"/>
              </a:rPr>
              <a:t>Real-time fleet tracking, crane booking &amp; AI-assisted vendor operations</a:t>
            </a:r>
          </a:p>
        </p:txBody>
      </p:sp>
      <p:pic>
        <p:nvPicPr>
          <p:cNvPr id="6" name="Picture 5" descr="teleglob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743" y="301752"/>
            <a:ext cx="2689032" cy="6035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627632"/>
            <a:ext cx="3557930" cy="2670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28800"/>
            <a:ext cx="3228746" cy="23042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6FE0"/>
                </a:solidFill>
                <a:latin typeface="Segoe UI"/>
              </a:rPr>
              <a:t>Frontend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Next.js 16 (App Router), TypeScript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Live map — React Leaflet + MapTiler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Dashboards &amp; charts (Recharts)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AI Chat + Voice console (SSE streaming)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PDF export — html2canvas + jsPDF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6882" y="1627632"/>
            <a:ext cx="3557930" cy="2670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1474" y="1828800"/>
            <a:ext cx="3228746" cy="23042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9E63"/>
                </a:solidFill>
                <a:latin typeface="Segoe UI"/>
              </a:rPr>
              <a:t>Real-time &amp; AI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WebSocket telemetry push (live GPS)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SSE streaming for LLM chat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Ollama + Qwen 2.5 3B (local, no keys)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Voice agent — structured transcripts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Alert engine — overspeed / low-signal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0844" y="1627632"/>
            <a:ext cx="3557930" cy="2670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5436" y="1828800"/>
            <a:ext cx="3228746" cy="230428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6FE0"/>
                </a:solidFill>
                <a:latin typeface="Segoe UI"/>
              </a:rPr>
              <a:t>Backend &amp; Data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FastAPI gateway, SQLAlchemy async ORM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Pydantic v2 schemas + validation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PostgreSQL 16 (Docker)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Razorpay payments (signature verified)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MQTT broker + GPS simulator feed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17720"/>
            <a:ext cx="11185855" cy="1481328"/>
          </a:xfrm>
          <a:prstGeom prst="roundRect">
            <a:avLst>
              <a:gd name="adj" fmla="val 4000"/>
            </a:avLst>
          </a:prstGeom>
          <a:solidFill>
            <a:srgbClr val="E9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64024"/>
            <a:ext cx="10820095" cy="1234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2A3C"/>
                </a:solidFill>
                <a:latin typeface="Segoe UI"/>
              </a:rPr>
              <a:t>Request flow</a:t>
            </a:r>
          </a:p>
          <a:p>
            <a:pPr algn="l" indent="-127000" marL="127000">
              <a:spcBef>
                <a:spcPts val="0"/>
              </a:spcBef>
              <a:spcAft>
                <a:spcPts val="40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Operator → Next.js UI → FastAPI routes → service layer (equipment · bookings · payments · reports · chat/voice) → PostgreSQL; live GPS via MQTT → WebSocket push to the map</a:t>
            </a:r>
          </a:p>
          <a:p>
            <a:pPr algn="l" indent="-127000" marL="127000">
              <a:spcBef>
                <a:spcPts val="0"/>
              </a:spcBef>
              <a:spcAft>
                <a:spcPts val="0"/>
              </a:spcAft>
              <a:buChar char="•"/>
            </a:pPr>
            <a:r>
              <a:rPr sz="1100" b="0">
                <a:solidFill>
                  <a:srgbClr val="1F2A3C"/>
                </a:solidFill>
                <a:latin typeface="Segoe UI"/>
              </a:rPr>
              <a:t>AI chat/voice → fleet context assembled server-side → Ollama LLM → streamed back over SSE; Razorpay checkout confirmed via verified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5568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Segoe UI"/>
              </a:rPr>
              <a:t>Phase 1 shipped: tracking, bookings, payments, reports  |  Phase 2: AI chat/voice, alert engine, geofencing,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C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64008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275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As-Built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86384"/>
            <a:ext cx="8275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DE6"/>
                </a:solidFill>
                <a:latin typeface="Segoe UI"/>
              </a:rPr>
              <a:t>The layered flow implemented in the codebase (Next.js + FastAPI)</a:t>
            </a:r>
          </a:p>
        </p:txBody>
      </p:sp>
      <p:pic>
        <p:nvPicPr>
          <p:cNvPr id="6" name="Picture 5" descr="teleglob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743" y="301752"/>
            <a:ext cx="2689032" cy="6035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481328"/>
            <a:ext cx="11185855" cy="749808"/>
          </a:xfrm>
          <a:prstGeom prst="roundRect">
            <a:avLst>
              <a:gd name="adj" fmla="val 3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81328"/>
            <a:ext cx="141732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FE0"/>
                </a:solidFill>
                <a:latin typeface="Segoe UI"/>
              </a:rPr>
              <a:t>Clients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9968" y="1609344"/>
            <a:ext cx="4737963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84832" y="1609344"/>
            <a:ext cx="4628235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A3C"/>
                </a:solidFill>
                <a:latin typeface="Segoe UI"/>
              </a:rPr>
              <a:t>Operator Browser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Dashboard · Map · Bookings · Chat/Voice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50811" y="1609344"/>
            <a:ext cx="4737963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5675" y="1609344"/>
            <a:ext cx="4628235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A3C"/>
                </a:solidFill>
                <a:latin typeface="Segoe UI"/>
              </a:rPr>
              <a:t>GPS Devices / Simulator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MQTT telemetry publishers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40864"/>
            <a:ext cx="11185855" cy="822960"/>
          </a:xfrm>
          <a:prstGeom prst="roundRect">
            <a:avLst>
              <a:gd name="adj" fmla="val 3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340864"/>
            <a:ext cx="141732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FE0"/>
                </a:solidFill>
                <a:latin typeface="Segoe UI"/>
              </a:rPr>
              <a:t>FastAPI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FE0"/>
                </a:solidFill>
                <a:latin typeface="Segoe UI"/>
              </a:rPr>
              <a:t>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29968" y="2487168"/>
            <a:ext cx="3097682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4832" y="2487168"/>
            <a:ext cx="2987954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A3C"/>
                </a:solidFill>
                <a:latin typeface="Segoe UI"/>
              </a:rPr>
              <a:t>REST 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equipment · bookings · payments ·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10530" y="2487168"/>
            <a:ext cx="3097682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5394" y="2487168"/>
            <a:ext cx="2987954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A3C"/>
                </a:solidFill>
                <a:latin typeface="Segoe UI"/>
              </a:rPr>
              <a:t>Streaming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WebSocket telemetry · SSE 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1092" y="2487168"/>
            <a:ext cx="3097682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5956" y="2487168"/>
            <a:ext cx="2987954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A3C"/>
                </a:solidFill>
                <a:latin typeface="Segoe UI"/>
              </a:rPr>
              <a:t>AI endpoints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/chat · /voice · fleet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73552"/>
            <a:ext cx="11185855" cy="914400"/>
          </a:xfrm>
          <a:prstGeom prst="roundRect">
            <a:avLst>
              <a:gd name="adj" fmla="val 3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273552"/>
            <a:ext cx="141732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FE0"/>
                </a:solidFill>
                <a:latin typeface="Segoe UI"/>
              </a:rPr>
              <a:t>Service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FE0"/>
                </a:solidFill>
                <a:latin typeface="Segoe UI"/>
              </a:rPr>
              <a:t>Layer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29968" y="3438144"/>
            <a:ext cx="1785457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84832" y="3438144"/>
            <a:ext cx="1675729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F2A3C"/>
                </a:solidFill>
                <a:latin typeface="Segoe UI"/>
              </a:rPr>
              <a:t>Equipment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688"/>
                </a:solidFill>
                <a:latin typeface="Segoe UI"/>
              </a:rPr>
              <a:t>lifecycle FSM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98305" y="3438144"/>
            <a:ext cx="1785457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53169" y="3438144"/>
            <a:ext cx="1675729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F2A3C"/>
                </a:solidFill>
                <a:latin typeface="Segoe UI"/>
              </a:rPr>
              <a:t>Bookings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688"/>
                </a:solidFill>
                <a:latin typeface="Segoe UI"/>
              </a:rPr>
              <a:t>date-range + FSM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66642" y="3438144"/>
            <a:ext cx="1785457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21506" y="3438144"/>
            <a:ext cx="1675729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F2A3C"/>
                </a:solidFill>
                <a:latin typeface="Segoe UI"/>
              </a:rPr>
              <a:t>Payments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688"/>
                </a:solidFill>
                <a:latin typeface="Segoe UI"/>
              </a:rPr>
              <a:t>Razorpay verify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34980" y="3438144"/>
            <a:ext cx="1785457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89844" y="3438144"/>
            <a:ext cx="1675729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F2A3C"/>
                </a:solidFill>
                <a:latin typeface="Segoe UI"/>
              </a:rPr>
              <a:t>Reports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688"/>
                </a:solidFill>
                <a:latin typeface="Segoe UI"/>
              </a:rPr>
              <a:t>utilization + PDF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03317" y="3438144"/>
            <a:ext cx="1785457" cy="585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58181" y="3438144"/>
            <a:ext cx="1675729" cy="5852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F2A3C"/>
                </a:solidFill>
                <a:latin typeface="Segoe UI"/>
              </a:rPr>
              <a:t>Comm / LLM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688"/>
                </a:solidFill>
                <a:latin typeface="Segoe UI"/>
              </a:rPr>
              <a:t>chat + voice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297680"/>
            <a:ext cx="11185855" cy="841248"/>
          </a:xfrm>
          <a:prstGeom prst="roundRect">
            <a:avLst>
              <a:gd name="adj" fmla="val 3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297680"/>
            <a:ext cx="1417320" cy="8412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9E63"/>
                </a:solidFill>
                <a:latin typeface="Segoe UI"/>
              </a:rPr>
              <a:t>AI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9E63"/>
                </a:solidFill>
                <a:latin typeface="Segoe UI"/>
              </a:rPr>
              <a:t>Real-time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29968" y="4443984"/>
            <a:ext cx="1785457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84832" y="4443984"/>
            <a:ext cx="1675729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F9E63"/>
                </a:solidFill>
                <a:latin typeface="Segoe UI"/>
              </a:rPr>
              <a:t>Ollama LLM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688"/>
                </a:solidFill>
                <a:latin typeface="Segoe UI"/>
              </a:rPr>
              <a:t>Qwen 2.5 3B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98305" y="4443984"/>
            <a:ext cx="1785457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53169" y="4443984"/>
            <a:ext cx="1675729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F9E63"/>
                </a:solidFill>
                <a:latin typeface="Segoe UI"/>
              </a:rPr>
              <a:t>Voice Agent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688"/>
                </a:solidFill>
                <a:latin typeface="Segoe UI"/>
              </a:rPr>
              <a:t>call transcripts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66642" y="4443984"/>
            <a:ext cx="1785457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21506" y="4443984"/>
            <a:ext cx="1675729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F9E63"/>
                </a:solidFill>
                <a:latin typeface="Segoe UI"/>
              </a:rPr>
              <a:t>Alert 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688"/>
                </a:solidFill>
                <a:latin typeface="Segoe UI"/>
              </a:rPr>
              <a:t>overspeed/signal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34980" y="4443984"/>
            <a:ext cx="1785457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89844" y="4443984"/>
            <a:ext cx="1675729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F9E63"/>
                </a:solidFill>
                <a:latin typeface="Segoe UI"/>
              </a:rPr>
              <a:t>Geofencing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688"/>
                </a:solidFill>
                <a:latin typeface="Segoe UI"/>
              </a:rPr>
              <a:t>boundary zones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03317" y="4443984"/>
            <a:ext cx="1785457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58181" y="4443984"/>
            <a:ext cx="1675729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F9E63"/>
                </a:solidFill>
                <a:latin typeface="Segoe UI"/>
              </a:rPr>
              <a:t>MQTT Bridge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688"/>
                </a:solidFill>
                <a:latin typeface="Segoe UI"/>
              </a:rPr>
              <a:t>GPS → WS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248656"/>
            <a:ext cx="11185855" cy="822960"/>
          </a:xfrm>
          <a:prstGeom prst="roundRect">
            <a:avLst>
              <a:gd name="adj" fmla="val 3000"/>
            </a:avLst>
          </a:prstGeom>
          <a:solidFill>
            <a:srgbClr val="F1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" y="5248656"/>
            <a:ext cx="141732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46C1"/>
                </a:solidFill>
                <a:latin typeface="Segoe UI"/>
              </a:rPr>
              <a:t>Data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46C1"/>
                </a:solidFill>
                <a:latin typeface="Segoe UI"/>
              </a:rPr>
              <a:t>External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029968" y="5394960"/>
            <a:ext cx="2277541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84832" y="5394960"/>
            <a:ext cx="2167813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6B46C1"/>
                </a:solidFill>
                <a:latin typeface="Segoe UI"/>
              </a:rPr>
              <a:t>PostgreSQL 16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688"/>
                </a:solidFill>
                <a:latin typeface="Segoe UI"/>
              </a:rPr>
              <a:t>fleet + bookings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90389" y="5394960"/>
            <a:ext cx="2277541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45253" y="5394960"/>
            <a:ext cx="2167813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6B46C1"/>
                </a:solidFill>
                <a:latin typeface="Segoe UI"/>
              </a:rPr>
              <a:t>Razorpay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688"/>
                </a:solidFill>
                <a:latin typeface="Segoe UI"/>
              </a:rPr>
              <a:t>payments API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50811" y="5394960"/>
            <a:ext cx="2277541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05675" y="5394960"/>
            <a:ext cx="2167813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6B46C1"/>
                </a:solidFill>
                <a:latin typeface="Segoe UI"/>
              </a:rPr>
              <a:t>MQTT Broker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688"/>
                </a:solidFill>
                <a:latin typeface="Segoe UI"/>
              </a:rPr>
              <a:t>Mosquitto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11233" y="5394960"/>
            <a:ext cx="2277541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66097" y="5394960"/>
            <a:ext cx="2167813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6B46C1"/>
                </a:solidFill>
                <a:latin typeface="Segoe UI"/>
              </a:rPr>
              <a:t>GPS Simulator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688"/>
                </a:solidFill>
                <a:latin typeface="Segoe UI"/>
              </a:rPr>
              <a:t>Python feeder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46520"/>
            <a:ext cx="1115568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Segoe UI"/>
              </a:rPr>
              <a:t>Flow: browser → gateway → service layer → PostgreSQL; GPS telemetry via MQTT → WebSocket; AI chat/voice via Ollama over SSE.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C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64008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275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Technical Highlights &amp; Engineering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86384"/>
            <a:ext cx="8275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DE6"/>
                </a:solidFill>
                <a:latin typeface="Segoe UI"/>
              </a:rPr>
              <a:t>Design decisions that make the POC production-minded</a:t>
            </a:r>
          </a:p>
        </p:txBody>
      </p:sp>
      <p:pic>
        <p:nvPicPr>
          <p:cNvPr id="6" name="Picture 5" descr="teleglob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743" y="301752"/>
            <a:ext cx="2689032" cy="6035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572768"/>
            <a:ext cx="5464911" cy="2157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37360"/>
            <a:ext cx="5062575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6FE0"/>
                </a:solidFill>
                <a:latin typeface="Segoe UI"/>
              </a:rPr>
              <a:t>Reliability &amp; State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Crane lifecycle is a guarded state machine: available → booked → working → repair → deceased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Payment signature verified server-side before a booking is confirmed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Ollama unreachable → graceful degraded reply, never a 5xx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50 pytest integration tests cover all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572768"/>
            <a:ext cx="5464911" cy="2157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5031" y="1737360"/>
            <a:ext cx="5062575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F9E63"/>
                </a:solidFill>
                <a:latin typeface="Segoe UI"/>
              </a:rPr>
              <a:t>Real-time &amp; AI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WebSocket push keeps the map live without polling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SSE streams LLM tokens for responsive chat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LLM runs locally (Qwen 2.5 3B) — no data leaves the network, no API keys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Fleet context assembled server-side; prompt never trusts raw input blindly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86784"/>
            <a:ext cx="5464911" cy="2157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4151376"/>
            <a:ext cx="5062575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6B46C1"/>
                </a:solidFill>
                <a:latin typeface="Segoe UI"/>
              </a:rPr>
              <a:t>Extensibility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Service layer is modular — new domains plug in without touching routing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Voice agent is provider-agnostic (Twilio / Bland.ai ready)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Vendor &amp; product data is data-driven, not hard-coded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MapTiler / Razorpay keys are env-configurable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863" y="3986784"/>
            <a:ext cx="5464911" cy="21579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5031" y="4151376"/>
            <a:ext cx="5062575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E08A1E"/>
                </a:solidFill>
                <a:latin typeface="Segoe UI"/>
              </a:rPr>
              <a:t>Deployment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Dockerized PostgreSQL 16; backend on uvicorn, frontend on Node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Env-based secrets (Razorpay, Ollama, MapTiler)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Ollama + MQTT broker run as local containers/services</a:t>
            </a:r>
          </a:p>
          <a:p>
            <a:pPr algn="l" indent="-127000" marL="127000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050" b="0">
                <a:solidFill>
                  <a:srgbClr val="1F2A3C"/>
                </a:solidFill>
                <a:latin typeface="Segoe UI"/>
              </a:rPr>
              <a:t>Clear path to ECS/EKS behind an ALB for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5568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Segoe UI"/>
              </a:rPr>
              <a:t>Stack: FastAPI · SQLAlchemy · Ollama (Qwen 2.5 3B) · Next.js 16 · PostgreSQL 16 · Razorpay · MQTT · Leaflet/MapTiler · Recharts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C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64008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275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Deployment Architecture (AWS)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86384"/>
            <a:ext cx="8275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DE6"/>
                </a:solidFill>
                <a:latin typeface="Segoe UI"/>
              </a:rPr>
              <a:t>Containerized services on ECS/EKS behind a load balancer</a:t>
            </a:r>
          </a:p>
        </p:txBody>
      </p:sp>
      <p:pic>
        <p:nvPicPr>
          <p:cNvPr id="6" name="Picture 5" descr="teleglob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743" y="301752"/>
            <a:ext cx="2689032" cy="603504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2468880" y="2240280"/>
            <a:ext cx="274320" cy="429768"/>
          </a:xfrm>
          <a:prstGeom prst="line">
            <a:avLst/>
          </a:prstGeom>
          <a:ln w="22225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468880" y="3054096"/>
            <a:ext cx="274320" cy="374904"/>
          </a:xfrm>
          <a:prstGeom prst="line">
            <a:avLst/>
          </a:prstGeom>
          <a:ln w="22225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2450592"/>
            <a:ext cx="502920" cy="246888"/>
          </a:xfrm>
          <a:prstGeom prst="line">
            <a:avLst/>
          </a:prstGeom>
          <a:ln w="22225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023360" y="3035808"/>
            <a:ext cx="502920" cy="347472"/>
          </a:xfrm>
          <a:prstGeom prst="line">
            <a:avLst/>
          </a:prstGeom>
          <a:ln w="22225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726679" y="2157984"/>
            <a:ext cx="502921" cy="1225296"/>
          </a:xfrm>
          <a:prstGeom prst="line">
            <a:avLst/>
          </a:prstGeom>
          <a:ln w="17780">
            <a:solidFill>
              <a:srgbClr val="1F9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726679" y="3072384"/>
            <a:ext cx="502921" cy="310896"/>
          </a:xfrm>
          <a:prstGeom prst="line">
            <a:avLst/>
          </a:prstGeom>
          <a:ln w="17780">
            <a:solidFill>
              <a:srgbClr val="1F9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26679" y="3383280"/>
            <a:ext cx="502921" cy="603504"/>
          </a:xfrm>
          <a:prstGeom prst="line">
            <a:avLst/>
          </a:prstGeom>
          <a:ln w="17780">
            <a:solidFill>
              <a:srgbClr val="1F9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26679" y="3383280"/>
            <a:ext cx="502921" cy="1517904"/>
          </a:xfrm>
          <a:prstGeom prst="line">
            <a:avLst/>
          </a:prstGeom>
          <a:ln w="17780">
            <a:solidFill>
              <a:srgbClr val="1F9E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17830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" y="1783080"/>
            <a:ext cx="185623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A3C"/>
                </a:solidFill>
                <a:latin typeface="Segoe UI"/>
              </a:rPr>
              <a:t>Operator Browser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Next.js SPA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718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2971800"/>
            <a:ext cx="1856232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A3C"/>
                </a:solidFill>
                <a:latin typeface="Segoe UI"/>
              </a:rPr>
              <a:t>GPS Devices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MQTT publishers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2377440"/>
            <a:ext cx="1280160" cy="960120"/>
          </a:xfrm>
          <a:prstGeom prst="roundRect">
            <a:avLst>
              <a:gd name="adj" fmla="val 8000"/>
            </a:avLst>
          </a:prstGeom>
          <a:solidFill>
            <a:srgbClr val="FDF3E6"/>
          </a:solidFill>
          <a:ln w="12700">
            <a:solidFill>
              <a:srgbClr val="E8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98064" y="2377440"/>
            <a:ext cx="1170432" cy="9601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E08A1E"/>
                </a:solidFill>
                <a:latin typeface="Segoe UI"/>
              </a:rPr>
              <a:t>ALB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Application
Load Balancer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600200"/>
            <a:ext cx="3566160" cy="3703320"/>
          </a:xfrm>
          <a:prstGeom prst="roundRect">
            <a:avLst>
              <a:gd name="adj" fmla="val 3000"/>
            </a:avLst>
          </a:prstGeom>
          <a:solidFill>
            <a:srgbClr val="EEF3FD"/>
          </a:solidFill>
          <a:ln w="15875">
            <a:solidFill>
              <a:srgbClr val="2E6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1664208"/>
            <a:ext cx="32918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FE0"/>
                </a:solidFill>
                <a:latin typeface="Segoe UI"/>
              </a:rPr>
              <a:t>ECS / EKS Cluster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2057400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81144" y="2057400"/>
            <a:ext cx="3090672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A3C"/>
                </a:solidFill>
                <a:latin typeface="Segoe UI"/>
              </a:rPr>
              <a:t>Frontend Container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Node 20 · Next.js standalone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2971800"/>
            <a:ext cx="32004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1144" y="2971800"/>
            <a:ext cx="3090672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A3C"/>
                </a:solidFill>
                <a:latin typeface="Segoe UI"/>
              </a:rPr>
              <a:t>Backend Container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Python 3.12 · FastAPI · uvicorn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3977639"/>
            <a:ext cx="32004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3977639"/>
            <a:ext cx="3090672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2A3C"/>
                </a:solidFill>
                <a:latin typeface="Segoe UI"/>
              </a:rPr>
              <a:t>Agent / LLM Worker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Ollama (Qwen 2.5 3B) · MQTT bridge · GPS ingest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783080"/>
            <a:ext cx="3456432" cy="749808"/>
          </a:xfrm>
          <a:prstGeom prst="roundRect">
            <a:avLst>
              <a:gd name="adj" fmla="val 8000"/>
            </a:avLst>
          </a:prstGeom>
          <a:solidFill>
            <a:srgbClr val="ECF6F0"/>
          </a:solidFill>
          <a:ln w="12700">
            <a:solidFill>
              <a:srgbClr val="C5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84464" y="1783080"/>
            <a:ext cx="3346704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9E63"/>
                </a:solidFill>
                <a:latin typeface="Segoe UI"/>
              </a:rPr>
              <a:t>Amazon RDS — PostgreSQL 16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fleet + bookings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697480"/>
            <a:ext cx="3456432" cy="749808"/>
          </a:xfrm>
          <a:prstGeom prst="roundRect">
            <a:avLst>
              <a:gd name="adj" fmla="val 8000"/>
            </a:avLst>
          </a:prstGeom>
          <a:solidFill>
            <a:srgbClr val="ECF6F0"/>
          </a:solidFill>
          <a:ln w="12700">
            <a:solidFill>
              <a:srgbClr val="C5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2697480"/>
            <a:ext cx="3346704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9E63"/>
                </a:solidFill>
                <a:latin typeface="Segoe UI"/>
              </a:rPr>
              <a:t>Amazon S3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report PDFs /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611880"/>
            <a:ext cx="3456432" cy="749808"/>
          </a:xfrm>
          <a:prstGeom prst="roundRect">
            <a:avLst>
              <a:gd name="adj" fmla="val 8000"/>
            </a:avLst>
          </a:prstGeom>
          <a:solidFill>
            <a:srgbClr val="ECF6F0"/>
          </a:solidFill>
          <a:ln w="12700">
            <a:solidFill>
              <a:srgbClr val="C5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3611880"/>
            <a:ext cx="3346704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9E63"/>
                </a:solidFill>
                <a:latin typeface="Segoe UI"/>
              </a:rPr>
              <a:t>Secrets Manager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DB · Razorpay · API keys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526280"/>
            <a:ext cx="3456432" cy="749808"/>
          </a:xfrm>
          <a:prstGeom prst="roundRect">
            <a:avLst>
              <a:gd name="adj" fmla="val 8000"/>
            </a:avLst>
          </a:prstGeom>
          <a:solidFill>
            <a:srgbClr val="ECF6F0"/>
          </a:solidFill>
          <a:ln w="12700">
            <a:solidFill>
              <a:srgbClr val="C5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84464" y="4526280"/>
            <a:ext cx="3346704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9E63"/>
                </a:solidFill>
                <a:latin typeface="Segoe UI"/>
              </a:rPr>
              <a:t>ECR — Container Registry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8"/>
                </a:solidFill>
                <a:latin typeface="Segoe UI"/>
              </a:rPr>
              <a:t>backend / frontend images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160520"/>
            <a:ext cx="3520440" cy="1143000"/>
          </a:xfrm>
          <a:prstGeom prst="roundRect">
            <a:avLst>
              <a:gd name="adj" fmla="val 5000"/>
            </a:avLst>
          </a:prstGeom>
          <a:solidFill>
            <a:srgbClr val="FDF3E6"/>
          </a:solidFill>
          <a:ln w="12700">
            <a:solidFill>
              <a:srgbClr val="E8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270248"/>
            <a:ext cx="333756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08A1E"/>
                </a:solidFill>
                <a:latin typeface="Segoe UI"/>
              </a:rPr>
              <a:t>External Integrations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F2A3C"/>
                </a:solidFill>
                <a:latin typeface="Segoe UI"/>
              </a:rPr>
              <a:t>Razorpay — UPI / cards / netbanking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F2A3C"/>
                </a:solidFill>
                <a:latin typeface="Segoe UI"/>
              </a:rPr>
              <a:t>MapTiler — map tiles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50" b="0">
                <a:solidFill>
                  <a:srgbClr val="1F2A3C"/>
                </a:solidFill>
                <a:latin typeface="Segoe UI"/>
              </a:rPr>
              <a:t>Twilio / Bland.ai — voice call-out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486400"/>
            <a:ext cx="11185855" cy="841248"/>
          </a:xfrm>
          <a:prstGeom prst="roundRect">
            <a:avLst>
              <a:gd name="adj" fmla="val 4000"/>
            </a:avLst>
          </a:prstGeom>
          <a:solidFill>
            <a:srgbClr val="F1EEFA"/>
          </a:solidFill>
          <a:ln w="12700">
            <a:solidFill>
              <a:srgbClr val="6B4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541264"/>
            <a:ext cx="274320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B46C1"/>
                </a:solidFill>
                <a:latin typeface="Segoe UI"/>
              </a:rPr>
              <a:t>Observability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5797296"/>
            <a:ext cx="2753258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2A3C"/>
                </a:solidFill>
                <a:latin typeface="Segoe UI"/>
              </a:rPr>
              <a:t>CloudWatch — logs &amp; alarms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99378" y="5797296"/>
            <a:ext cx="2753258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2A3C"/>
                </a:solidFill>
                <a:latin typeface="Segoe UI"/>
              </a:rPr>
              <a:t>Prometheus / Grafana — metrics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52636" y="5797296"/>
            <a:ext cx="2753258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F2A3C"/>
                </a:solidFill>
                <a:latin typeface="Segoe UI"/>
              </a:rPr>
              <a:t>Health checks — /health probes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46520"/>
            <a:ext cx="1115568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Segoe UI"/>
              </a:rPr>
              <a:t>CI builds images → ECR → deployed to ECS/EKS. Local LLM keeps fleet data inside the account; payments via Razorpay.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0C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07008"/>
            <a:ext cx="12191695" cy="64008"/>
          </a:xfrm>
          <a:prstGeom prst="rect">
            <a:avLst/>
          </a:prstGeom>
          <a:solidFill>
            <a:srgbClr val="2E6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2753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Segoe UI"/>
              </a:rPr>
              <a:t>Complete Production Architecture — Full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86384"/>
            <a:ext cx="82753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FCDE6"/>
                </a:solidFill>
                <a:latin typeface="Segoe UI"/>
              </a:rPr>
              <a:t>End-to-end system: edge, compute, AI, data, integrations, CI/CD</a:t>
            </a:r>
          </a:p>
        </p:txBody>
      </p:sp>
      <p:pic>
        <p:nvPicPr>
          <p:cNvPr id="6" name="Picture 5" descr="teleglobal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743" y="301752"/>
            <a:ext cx="2689032" cy="6035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1417320"/>
            <a:ext cx="11277295" cy="658368"/>
          </a:xfrm>
          <a:prstGeom prst="roundRect">
            <a:avLst>
              <a:gd name="adj" fmla="val 4000"/>
            </a:avLst>
          </a:prstGeom>
          <a:solidFill>
            <a:srgbClr val="FD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2344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08A1E"/>
                </a:solidFill>
                <a:latin typeface="Segoe UI"/>
              </a:rPr>
              <a:t>Edge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08A1E"/>
                </a:solidFill>
                <a:latin typeface="Segoe UI"/>
              </a:rPr>
              <a:t>Ingress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149961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7944" y="149961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E08A1E"/>
                </a:solidFill>
                <a:latin typeface="Segoe UI"/>
              </a:rPr>
              <a:t>CloudFront CDN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static assets, TLS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2937" y="149961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7801" y="149961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E08A1E"/>
                </a:solidFill>
                <a:latin typeface="Segoe UI"/>
              </a:rPr>
              <a:t>AWS WAF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rate limit, OWASP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22795" y="149961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7659" y="149961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E08A1E"/>
                </a:solidFill>
                <a:latin typeface="Segoe UI"/>
              </a:rPr>
              <a:t>Route 53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DNS, health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42653" y="149961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7517" y="149961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E08A1E"/>
                </a:solidFill>
                <a:latin typeface="Segoe UI"/>
              </a:rPr>
              <a:t>ALB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path routing, HTTPS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148840"/>
            <a:ext cx="11277295" cy="658368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148840"/>
            <a:ext cx="12344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FE0"/>
                </a:solidFill>
                <a:latin typeface="Segoe UI"/>
              </a:rPr>
              <a:t>Compute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FE0"/>
                </a:solidFill>
                <a:latin typeface="Segoe UI"/>
              </a:rPr>
              <a:t>(ECS/EKS)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80" y="223113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37944" y="223113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6FE0"/>
                </a:solidFill>
                <a:latin typeface="Segoe UI"/>
              </a:rPr>
              <a:t>Frontend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Next.js 16 · Node 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2937" y="223113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7801" y="223113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6FE0"/>
                </a:solidFill>
                <a:latin typeface="Segoe UI"/>
              </a:rPr>
              <a:t>Backend 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FastAPI · Py 3.12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22795" y="223113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7659" y="223113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6FE0"/>
                </a:solidFill>
                <a:latin typeface="Segoe UI"/>
              </a:rPr>
              <a:t>Realtime Worker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MQTT → WebSocket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42653" y="223113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97517" y="223113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6FE0"/>
                </a:solidFill>
                <a:latin typeface="Segoe UI"/>
              </a:rPr>
              <a:t>Ollama Sidecar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Qwen 2.5 3B local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2880360"/>
            <a:ext cx="11277295" cy="658368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2344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6FE0"/>
                </a:solidFill>
                <a:latin typeface="Segoe UI"/>
              </a:rPr>
              <a:t>AI &amp; ML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83080" y="296265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37944" y="296265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6FE0"/>
                </a:solidFill>
                <a:latin typeface="Segoe UI"/>
              </a:rPr>
              <a:t>Ollama LLM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chat NL understanding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2937" y="296265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57801" y="296265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6FE0"/>
                </a:solidFill>
                <a:latin typeface="Segoe UI"/>
              </a:rPr>
              <a:t>Voice Agent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transcripts + summary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22795" y="296265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77659" y="296265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6FE0"/>
                </a:solidFill>
                <a:latin typeface="Segoe UI"/>
              </a:rPr>
              <a:t>Alert 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overspeed / signal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42653" y="296265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97517" y="296265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2E6FE0"/>
                </a:solidFill>
                <a:latin typeface="Segoe UI"/>
              </a:rPr>
              <a:t>Analytics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utilization scoring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611880"/>
            <a:ext cx="11277295" cy="658368"/>
          </a:xfrm>
          <a:prstGeom prst="roundRect">
            <a:avLst>
              <a:gd name="adj" fmla="val 4000"/>
            </a:avLst>
          </a:prstGeom>
          <a:solidFill>
            <a:srgbClr val="E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611880"/>
            <a:ext cx="12344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9E63"/>
                </a:solidFill>
                <a:latin typeface="Segoe UI"/>
              </a:rPr>
              <a:t>Data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9E63"/>
                </a:solidFill>
                <a:latin typeface="Segoe UI"/>
              </a:rPr>
              <a:t>Storage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83080" y="369417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37944" y="369417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F9E63"/>
                </a:solidFill>
                <a:latin typeface="Segoe UI"/>
              </a:rPr>
              <a:t>Amazon RDS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PostgreSQL 16, async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2937" y="369417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57801" y="369417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F9E63"/>
                </a:solidFill>
                <a:latin typeface="Segoe UI"/>
              </a:rPr>
              <a:t>Amazon S3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report PDFs / docs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22795" y="369417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77659" y="369417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F9E63"/>
                </a:solidFill>
                <a:latin typeface="Segoe UI"/>
              </a:rPr>
              <a:t>MQTT Broker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telemetry stream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42653" y="369417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97517" y="369417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F9E63"/>
                </a:solidFill>
                <a:latin typeface="Segoe UI"/>
              </a:rPr>
              <a:t>Migrations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versioned schema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4343400"/>
            <a:ext cx="11277295" cy="658368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343400"/>
            <a:ext cx="12344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14B3B"/>
                </a:solidFill>
                <a:latin typeface="Segoe UI"/>
              </a:rPr>
              <a:t>Security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14B3B"/>
                </a:solidFill>
                <a:latin typeface="Segoe UI"/>
              </a:rPr>
              <a:t>Governance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783080" y="442569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37944" y="442569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D14B3B"/>
                </a:solidFill>
                <a:latin typeface="Segoe UI"/>
              </a:rPr>
              <a:t>Auth / RBAC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role-based access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02937" y="442569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57801" y="442569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D14B3B"/>
                </a:solidFill>
                <a:latin typeface="Segoe UI"/>
              </a:rPr>
              <a:t>AWS KMS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encryption keys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22795" y="442569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77659" y="442569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D14B3B"/>
                </a:solidFill>
                <a:latin typeface="Segoe UI"/>
              </a:rPr>
              <a:t>Secrets Manager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DB · Razorpay keys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42653" y="442569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3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97517" y="442569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D14B3B"/>
                </a:solidFill>
                <a:latin typeface="Segoe UI"/>
              </a:rPr>
              <a:t>Payment Verify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signature checks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074920"/>
            <a:ext cx="11277295" cy="658368"/>
          </a:xfrm>
          <a:prstGeom prst="roundRect">
            <a:avLst>
              <a:gd name="adj" fmla="val 4000"/>
            </a:avLst>
          </a:prstGeom>
          <a:solidFill>
            <a:srgbClr val="F1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5074920"/>
            <a:ext cx="12344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46C1"/>
                </a:solidFill>
                <a:latin typeface="Segoe UI"/>
              </a:rPr>
              <a:t>Integrations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46C1"/>
                </a:solidFill>
                <a:latin typeface="Segoe UI"/>
              </a:rPr>
              <a:t>&amp; Notify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783080" y="515721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37944" y="515721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6B46C1"/>
                </a:solidFill>
                <a:latin typeface="Segoe UI"/>
              </a:rPr>
              <a:t>Razorpay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UPI / card / netbank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02937" y="515721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7801" y="515721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6B46C1"/>
                </a:solidFill>
                <a:latin typeface="Segoe UI"/>
              </a:rPr>
              <a:t>Twilio / Bland.ai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voice call-out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22795" y="515721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77659" y="515721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6B46C1"/>
                </a:solidFill>
                <a:latin typeface="Segoe UI"/>
              </a:rPr>
              <a:t>MapTiler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map tiles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342653" y="515721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C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97517" y="515721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6B46C1"/>
                </a:solidFill>
                <a:latin typeface="Segoe UI"/>
              </a:rPr>
              <a:t>SNS / SES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SMS / email alerts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5806440"/>
            <a:ext cx="11277295" cy="658368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5806440"/>
            <a:ext cx="123444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A3C"/>
                </a:solidFill>
                <a:latin typeface="Segoe UI"/>
              </a:rPr>
              <a:t>Ops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2A3C"/>
                </a:solidFill>
                <a:latin typeface="Segoe UI"/>
              </a:rPr>
              <a:t>CI/CD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783080" y="588873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37944" y="588873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F2A3C"/>
                </a:solidFill>
                <a:latin typeface="Segoe UI"/>
              </a:rPr>
              <a:t>Prometheus + Grafana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metrics, dashboards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302937" y="588873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57801" y="588873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F2A3C"/>
                </a:solidFill>
                <a:latin typeface="Segoe UI"/>
              </a:rPr>
              <a:t>CloudWatch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logs, alarms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22795" y="588873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77659" y="588873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F2A3C"/>
                </a:solidFill>
                <a:latin typeface="Segoe UI"/>
              </a:rPr>
              <a:t>GitHub Actions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build → test → push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342653" y="5888736"/>
            <a:ext cx="2391841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97517" y="5888736"/>
            <a:ext cx="2282113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F2A3C"/>
                </a:solidFill>
                <a:latin typeface="Segoe UI"/>
              </a:rPr>
              <a:t>Amazon ECR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688"/>
                </a:solidFill>
                <a:latin typeface="Segoe UI"/>
              </a:rPr>
              <a:t>image registry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6446520"/>
            <a:ext cx="1115568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8"/>
                </a:solidFill>
                <a:latin typeface="Segoe UI"/>
              </a:rPr>
              <a:t>Full production BOM: 7 layers · real-time GPS · local LLM (no external AI dependency) · payments via Razorpay · all fleet data stays in-account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