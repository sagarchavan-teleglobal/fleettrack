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3.xml"/><Relationship Id="rId6" Type="http://schemas.openxmlformats.org/officeDocument/2006/relationships/slide" Target="slide5.xml"/><Relationship Id="rId7" Type="http://schemas.openxmlformats.org/officeDocument/2006/relationships/slide" Target="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5.xml"/><Relationship Id="rId7" Type="http://schemas.openxmlformats.org/officeDocument/2006/relationships/slide" Target="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097280" y="-914400"/>
            <a:ext cx="3840480" cy="2743200"/>
          </a:xfrm>
          <a:prstGeom prst="roundRect">
            <a:avLst>
              <a:gd name="adj" fmla="val 50000"/>
            </a:avLst>
          </a:prstGeom>
          <a:solidFill>
            <a:srgbClr val="162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09760" y="4206240"/>
            <a:ext cx="4206240" cy="3108960"/>
          </a:xfrm>
          <a:prstGeom prst="roundRect">
            <a:avLst>
              <a:gd name="adj" fmla="val 50000"/>
            </a:avLst>
          </a:prstGeom>
          <a:solidFill>
            <a:srgbClr val="1C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leglob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743" y="384048"/>
            <a:ext cx="2689032" cy="6035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658368"/>
            <a:ext cx="2606040" cy="384048"/>
          </a:xfrm>
          <a:prstGeom prst="roundRect">
            <a:avLst>
              <a:gd name="adj" fmla="val 42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teleGlobal  ·  AI PLATFORMS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43584"/>
            <a:ext cx="10607040" cy="15544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Segoe UI"/>
              </a:rPr>
              <a:t>Intelligent Automation,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22D3EE"/>
                </a:solidFill>
                <a:latin typeface="Segoe UI"/>
              </a:rPr>
              <a:t>Built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61488"/>
            <a:ext cx="10241280" cy="420624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FB0D0"/>
                </a:solidFill>
                <a:latin typeface="Segoe UI"/>
              </a:rPr>
              <a:t>Two production-grade AI platforms, one engineering standard. Click a card to jump straight into that story.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685800" y="3364992"/>
            <a:ext cx="5257800" cy="2212848"/>
          </a:xfrm>
          <a:prstGeom prst="roundRect">
            <a:avLst>
              <a:gd name="adj" fmla="val 7000"/>
            </a:avLst>
          </a:prstGeom>
          <a:solidFill>
            <a:srgbClr val="11224A"/>
          </a:solidFill>
          <a:ln w="19050">
            <a:solidFill>
              <a:srgbClr val="3D52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3383280"/>
            <a:ext cx="5221224" cy="73152"/>
          </a:xfrm>
          <a:prstGeom prst="rect">
            <a:avLst/>
          </a:prstGeom>
          <a:solidFill>
            <a:srgbClr val="3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3639312"/>
            <a:ext cx="4636008" cy="17373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AI Bank Onboarding Platform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9FB0D0"/>
                </a:solidFill>
                <a:latin typeface="Segoe UI"/>
              </a:rPr>
              <a:t>Multi-agent, LLM-orchestrated self-service KYC pipeline. OCR, KYC, fraud, face match and product recommendations, coordinated by a LangGraph supervisor.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Architecture  ·  Production stack  →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6245352" y="3364992"/>
            <a:ext cx="5257800" cy="2212848"/>
          </a:xfrm>
          <a:prstGeom prst="roundRect">
            <a:avLst>
              <a:gd name="adj" fmla="val 7000"/>
            </a:avLst>
          </a:prstGeom>
          <a:solidFill>
            <a:srgbClr val="241446"/>
          </a:solidFill>
          <a:ln w="19050">
            <a:solidFill>
              <a:srgbClr val="3D52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3383280"/>
            <a:ext cx="5221224" cy="731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3639312"/>
            <a:ext cx="4636008" cy="17373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AI Voice Calling Agent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9FB0D0"/>
                </a:solidFill>
                <a:latin typeface="Segoe UI"/>
              </a:rPr>
              <a:t>Human-like phone conversations, fully automated. Multilingual, real-time, cloud-native and infinitely scalable outbound calling.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C4899"/>
                </a:solidFill>
                <a:latin typeface="Segoe UI"/>
              </a:rPr>
              <a:t>Why it matters  ·  How it works 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C9C"/>
                </a:solidFill>
                <a:latin typeface="Segoe UI"/>
              </a:rPr>
              <a:t>Use the bar below to jump between sections at any time · click a card above to start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12191695" cy="18288"/>
          </a:xfrm>
          <a:prstGeom prst="rect">
            <a:avLst/>
          </a:prstGeom>
          <a:solidFill>
            <a:srgbClr val="1E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3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060C1A"/>
                </a:solidFill>
                <a:latin typeface="Segoe UI"/>
              </a:rPr>
              <a:t>Home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2382469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Bank · Arch</a:t>
            </a:r>
          </a:p>
        </p:txBody>
      </p:sp>
      <p:sp>
        <p:nvSpPr>
          <p:cNvPr id="19" name="Rounded Rectangle 18">
            <a:hlinkClick action="ppaction://hlinksldjump" r:id="rId5"/>
          </p:cNvPr>
          <p:cNvSpPr/>
          <p:nvPr/>
        </p:nvSpPr>
        <p:spPr>
          <a:xfrm>
            <a:off x="4262018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Bank · Prod</a:t>
            </a:r>
          </a:p>
        </p:txBody>
      </p:sp>
      <p:sp>
        <p:nvSpPr>
          <p:cNvPr id="20" name="Rounded Rectangle 19">
            <a:hlinkClick action="ppaction://hlinksldjump" r:id="rId4"/>
          </p:cNvPr>
          <p:cNvSpPr/>
          <p:nvPr/>
        </p:nvSpPr>
        <p:spPr>
          <a:xfrm>
            <a:off x="6141567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Voice · Why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8021116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Voice · How</a:t>
            </a:r>
          </a:p>
        </p:txBody>
      </p:sp>
      <p:sp>
        <p:nvSpPr>
          <p:cNvPr id="22" name="Rounded Rectangle 21">
            <a:hlinkClick action="ppaction://hlinksldjump" r:id="rId7"/>
          </p:cNvPr>
          <p:cNvSpPr/>
          <p:nvPr/>
        </p:nvSpPr>
        <p:spPr>
          <a:xfrm>
            <a:off x="9900665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Value</a:t>
            </a:r>
          </a:p>
        </p:txBody>
      </p:sp>
    </p:spTree>
  </p:cSld>
  <p:clrMapOvr>
    <a:masterClrMapping/>
  </p:clrMapOvr>
  <p:transition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8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0292"/>
          </a:xfrm>
          <a:prstGeom prst="rect">
            <a:avLst/>
          </a:prstGeom>
          <a:solidFill>
            <a:srgbClr val="3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65176"/>
            <a:ext cx="137160" cy="1371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7863840" cy="29260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AI BANK ONBOARDING  ·  PLATFORM 1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8503920" cy="47548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896112"/>
            <a:ext cx="85039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0D0"/>
                </a:solidFill>
                <a:latin typeface="Segoe UI"/>
              </a:rPr>
              <a:t>Multi-agent, LLM-orchestrated self-service KYC pipeline</a:t>
            </a:r>
          </a:p>
        </p:txBody>
      </p:sp>
      <p:pic>
        <p:nvPicPr>
          <p:cNvPr id="9" name="Picture 8" descr="teleglob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5686" y="274320"/>
            <a:ext cx="2363089" cy="5303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1481328"/>
            <a:ext cx="3594506" cy="2395728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8" y="1499616"/>
            <a:ext cx="3557930" cy="50292"/>
          </a:xfrm>
          <a:prstGeom prst="rect">
            <a:avLst/>
          </a:prstGeom>
          <a:solidFill>
            <a:srgbClr val="3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655064"/>
            <a:ext cx="3265322" cy="20848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Frontend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Next.js 14 (App Router), React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ChatWindow (Aria) — conversational UI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Recommendation Panel — plain-language results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Admin Dashboard — JWT-protected, RBAC-gated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8594" y="1481328"/>
            <a:ext cx="3594506" cy="2395728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6882" y="1499616"/>
            <a:ext cx="355793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3186" y="1655064"/>
            <a:ext cx="3265322" cy="20848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Agent Layer (LangGraph)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Supervisor Agent — stateful routing graph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OCR · KYC · Fraud · Face · Recommendation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Conversational Agent (Aria) via Ollama LLM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BaseAgent contract: run() + can_handle()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4268" y="1481328"/>
            <a:ext cx="3594506" cy="2395728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2556" y="1499616"/>
            <a:ext cx="355793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8860" y="1655064"/>
            <a:ext cx="3265322" cy="20848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Backend &amp; Data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FastAPI gateway, SQLAlchemy async ORM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PostgreSQL (Alembic), SQLite dev fallback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AWS S3 (KMS-encrypted), Textract / Rekognition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Prometheus + Grafana, MLflow registry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78224"/>
            <a:ext cx="11185855" cy="1700784"/>
          </a:xfrm>
          <a:prstGeom prst="roundRect">
            <a:avLst>
              <a:gd name="adj" fmla="val 5000"/>
            </a:avLst>
          </a:prstGeom>
          <a:solidFill>
            <a:srgbClr val="0E1832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" y="4096512"/>
            <a:ext cx="11149280" cy="502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261104"/>
            <a:ext cx="10673791" cy="1335024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2DD4BF"/>
                </a:solidFill>
                <a:latin typeface="Segoe UI"/>
              </a:rPr>
              <a:t>Request Flow</a:t>
            </a:r>
          </a:p>
          <a:p>
            <a:pPr algn="l" marL="132000" indent="-13200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150" b="0" i="0">
                <a:solidFill>
                  <a:srgbClr val="9FB0D0"/>
                </a:solidFill>
                <a:latin typeface="Segoe UI"/>
              </a:rPr>
              <a:t>Customer (no login) → FastAPI public routes → Supervisor Agent → specialist agent(s) → shared FullOnboardingState persisted to PostgreSQL after every step</a:t>
            </a:r>
          </a:p>
          <a:p>
            <a:pPr algn="l" marL="132000" indent="-13200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150" b="0" i="0">
                <a:solidFill>
                  <a:srgbClr val="9FB0D0"/>
                </a:solidFill>
                <a:latin typeface="Segoe UI"/>
              </a:rPr>
              <a:t>Bank staff (JWT + RBAC) → protected routes → the same agent layer, for review and manual re-run</a:t>
            </a:r>
          </a:p>
          <a:p>
            <a:pPr algn="l" marL="132000" indent="-132000">
              <a:spcBef>
                <a:spcPts val="0"/>
              </a:spcBef>
              <a:spcAft>
                <a:spcPts val="0"/>
              </a:spcAft>
              <a:buChar char="•"/>
            </a:pPr>
            <a:r>
              <a:rPr sz="1150" b="0" i="0">
                <a:solidFill>
                  <a:srgbClr val="9FB0D0"/>
                </a:solidFill>
                <a:latin typeface="Segoe UI"/>
              </a:rPr>
              <a:t>Aria drives the conversation; agent_trace is append-only, giving a full audit trail of every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C9C"/>
                </a:solidFill>
                <a:latin typeface="Segoe UI"/>
              </a:rPr>
              <a:t>Phase 1–2 shipped: OCR, KYC, fraud, face match  |  Phase 3–6: recommendations, conversational agent, multi-agent orchestration, production hardening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17920"/>
            <a:ext cx="12191695" cy="18288"/>
          </a:xfrm>
          <a:prstGeom prst="rect">
            <a:avLst/>
          </a:prstGeom>
          <a:solidFill>
            <a:srgbClr val="1E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>
            <a:hlinkClick action="ppaction://hlinksldjump" r:id="rId3"/>
          </p:cNvPr>
          <p:cNvSpPr/>
          <p:nvPr/>
        </p:nvSpPr>
        <p:spPr>
          <a:xfrm>
            <a:off x="502920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Home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82469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060C1A"/>
                </a:solidFill>
                <a:latin typeface="Segoe UI"/>
              </a:rPr>
              <a:t>Bank · Arch</a:t>
            </a:r>
          </a:p>
        </p:txBody>
      </p:sp>
      <p:sp>
        <p:nvSpPr>
          <p:cNvPr id="26" name="Rounded Rectangle 25">
            <a:hlinkClick action="ppaction://hlinksldjump" r:id="rId4"/>
          </p:cNvPr>
          <p:cNvSpPr/>
          <p:nvPr/>
        </p:nvSpPr>
        <p:spPr>
          <a:xfrm>
            <a:off x="4262018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Bank · Prod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6141567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Voice · Why</a:t>
            </a:r>
          </a:p>
        </p:txBody>
      </p:sp>
      <p:sp>
        <p:nvSpPr>
          <p:cNvPr id="28" name="Rounded Rectangle 27">
            <a:hlinkClick action="ppaction://hlinksldjump" r:id="rId6"/>
          </p:cNvPr>
          <p:cNvSpPr/>
          <p:nvPr/>
        </p:nvSpPr>
        <p:spPr>
          <a:xfrm>
            <a:off x="8021116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Voice · How</a:t>
            </a:r>
          </a:p>
        </p:txBody>
      </p:sp>
      <p:sp>
        <p:nvSpPr>
          <p:cNvPr id="29" name="Rounded Rectangle 28">
            <a:hlinkClick action="ppaction://hlinksldjump" r:id="rId7"/>
          </p:cNvPr>
          <p:cNvSpPr/>
          <p:nvPr/>
        </p:nvSpPr>
        <p:spPr>
          <a:xfrm>
            <a:off x="9900665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Value</a:t>
            </a:r>
          </a:p>
        </p:txBody>
      </p:sp>
    </p:spTree>
  </p:cSld>
  <p:clrMapOvr>
    <a:masterClrMapping/>
  </p:clrMapOvr>
  <p:transition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8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65176"/>
            <a:ext cx="137160" cy="1371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7863840" cy="29260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AI BANK ONBOARDING  · 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8503920" cy="47548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Complete Production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896112"/>
            <a:ext cx="85039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0D0"/>
                </a:solidFill>
                <a:latin typeface="Segoe UI"/>
              </a:rPr>
              <a:t>Seven layers, 30+ managed services, zero external LLM dependency</a:t>
            </a:r>
          </a:p>
        </p:txBody>
      </p:sp>
      <p:pic>
        <p:nvPicPr>
          <p:cNvPr id="9" name="Picture 8" descr="teleglob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5686" y="274320"/>
            <a:ext cx="2363089" cy="5303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1426464"/>
            <a:ext cx="11185855" cy="548640"/>
          </a:xfrm>
          <a:prstGeom prst="roundRect">
            <a:avLst>
              <a:gd name="adj" fmla="val 6000"/>
            </a:avLst>
          </a:prstGeom>
          <a:solidFill>
            <a:srgbClr val="221B0C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1426464"/>
            <a:ext cx="1298448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B301"/>
                </a:solidFill>
                <a:latin typeface="Segoe UI"/>
              </a:rPr>
              <a:t>Edge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B301"/>
                </a:solidFill>
                <a:latin typeface="Segoe UI"/>
              </a:rPr>
              <a:t>Ingress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7672" y="149961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93392" y="1499616"/>
            <a:ext cx="2234107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5B301"/>
                </a:solidFill>
                <a:latin typeface="Segoe UI"/>
              </a:rPr>
              <a:t>CloudFront CDN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static assets, TLS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4659" y="149961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0379" y="1499616"/>
            <a:ext cx="2234107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5B301"/>
                </a:solidFill>
                <a:latin typeface="Segoe UI"/>
              </a:rPr>
              <a:t>AWS WAF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rate limit, OWASP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81647" y="149961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7367" y="1499616"/>
            <a:ext cx="2234107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5B301"/>
                </a:solidFill>
                <a:latin typeface="Segoe UI"/>
              </a:rPr>
              <a:t>Route 53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DNS, failover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8635" y="149961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355" y="1499616"/>
            <a:ext cx="2234107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5B301"/>
                </a:solidFill>
                <a:latin typeface="Segoe UI"/>
              </a:rPr>
              <a:t>API Gateway / ALB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path routing, HTTPS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043684"/>
            <a:ext cx="11185855" cy="548640"/>
          </a:xfrm>
          <a:prstGeom prst="roundRect">
            <a:avLst>
              <a:gd name="adj" fmla="val 6000"/>
            </a:avLst>
          </a:prstGeom>
          <a:solidFill>
            <a:srgbClr val="0D1A3E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2043684"/>
            <a:ext cx="1298448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D7BFF"/>
                </a:solidFill>
                <a:latin typeface="Segoe UI"/>
              </a:rPr>
              <a:t>Compute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D7BFF"/>
                </a:solidFill>
                <a:latin typeface="Segoe UI"/>
              </a:rPr>
              <a:t>(ECS/EKS)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47672" y="211683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93392" y="2116836"/>
            <a:ext cx="2234107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D7BFF"/>
                </a:solidFill>
                <a:latin typeface="Segoe UI"/>
              </a:rPr>
              <a:t>Frontend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Next.js 14 · Node 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4659" y="211683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0379" y="2116836"/>
            <a:ext cx="2234107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D7BFF"/>
                </a:solidFill>
                <a:latin typeface="Segoe UI"/>
              </a:rPr>
              <a:t>Backend API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FastAPI · Py 3.12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81647" y="211683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7367" y="2116836"/>
            <a:ext cx="2234107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D7BFF"/>
                </a:solidFill>
                <a:latin typeface="Segoe UI"/>
              </a:rPr>
              <a:t>Agent Worker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LangGraph supervisor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98635" y="211683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4355" y="2116836"/>
            <a:ext cx="2234107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D7BFF"/>
                </a:solidFill>
                <a:latin typeface="Segoe UI"/>
              </a:rPr>
              <a:t>Ollama Sidecar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Qwen2.5:7b, local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2660904"/>
            <a:ext cx="11185855" cy="548640"/>
          </a:xfrm>
          <a:prstGeom prst="roundRect">
            <a:avLst>
              <a:gd name="adj" fmla="val 6000"/>
            </a:avLst>
          </a:prstGeom>
          <a:solidFill>
            <a:srgbClr val="0A1F3A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" y="2660904"/>
            <a:ext cx="1298448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AI &amp; ML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47672" y="2734056"/>
            <a:ext cx="1842150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93392" y="2734056"/>
            <a:ext cx="1750710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LangGraph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agent orchestration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81262" y="2734056"/>
            <a:ext cx="1842150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6982" y="2734056"/>
            <a:ext cx="1750710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Ollama LLM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NL understanding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14852" y="2734056"/>
            <a:ext cx="1842150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60572" y="2734056"/>
            <a:ext cx="1750710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OpenCV DNN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YuNet + SFace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48442" y="2734056"/>
            <a:ext cx="1842150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94162" y="2734056"/>
            <a:ext cx="1750710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scikit-learn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recommendation ML v1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82032" y="2734056"/>
            <a:ext cx="1842150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27752" y="2734056"/>
            <a:ext cx="1750710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MLflow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model registry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3278124"/>
            <a:ext cx="11185855" cy="548640"/>
          </a:xfrm>
          <a:prstGeom prst="roundRect">
            <a:avLst>
              <a:gd name="adj" fmla="val 6000"/>
            </a:avLst>
          </a:prstGeom>
          <a:solidFill>
            <a:srgbClr val="0A221A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" y="3278124"/>
            <a:ext cx="1298448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2C58B"/>
                </a:solidFill>
                <a:latin typeface="Segoe UI"/>
              </a:rPr>
              <a:t>Data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2C58B"/>
                </a:solidFill>
                <a:latin typeface="Segoe UI"/>
              </a:rPr>
              <a:t>Storage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47672" y="335127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93392" y="3351276"/>
            <a:ext cx="2234107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C58B"/>
                </a:solidFill>
                <a:latin typeface="Segoe UI"/>
              </a:rPr>
              <a:t>Amazon RDS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PostgreSQL 16, async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64659" y="335127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10379" y="3351276"/>
            <a:ext cx="2234107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C58B"/>
                </a:solidFill>
                <a:latin typeface="Segoe UI"/>
              </a:rPr>
              <a:t>Amazon S3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docs SSE-KMS, 1h URLs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81647" y="335127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27367" y="3351276"/>
            <a:ext cx="2234107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C58B"/>
                </a:solidFill>
                <a:latin typeface="Segoe UI"/>
              </a:rPr>
              <a:t>AgentSession Store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state + checkpoint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98635" y="335127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44355" y="3351276"/>
            <a:ext cx="2234107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C58B"/>
                </a:solidFill>
                <a:latin typeface="Segoe UI"/>
              </a:rPr>
              <a:t>Alembic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versioned schema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3895344"/>
            <a:ext cx="11185855" cy="548640"/>
          </a:xfrm>
          <a:prstGeom prst="roundRect">
            <a:avLst>
              <a:gd name="adj" fmla="val 6000"/>
            </a:avLst>
          </a:prstGeom>
          <a:solidFill>
            <a:srgbClr val="2A0F24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" y="3895344"/>
            <a:ext cx="1298448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4899"/>
                </a:solidFill>
                <a:latin typeface="Segoe UI"/>
              </a:rPr>
              <a:t>Security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4899"/>
                </a:solidFill>
                <a:latin typeface="Segoe UI"/>
              </a:rPr>
              <a:t>Governance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947672" y="3968496"/>
            <a:ext cx="1842150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93392" y="3968496"/>
            <a:ext cx="1750710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C4899"/>
                </a:solidFill>
                <a:latin typeface="Segoe UI"/>
              </a:rPr>
              <a:t>JWT + RBAC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4 roles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81262" y="3968496"/>
            <a:ext cx="1842150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26982" y="3968496"/>
            <a:ext cx="1750710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C4899"/>
                </a:solidFill>
                <a:latin typeface="Segoe UI"/>
              </a:rPr>
              <a:t>AWS KMS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S3 · RDS · Secrets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814852" y="3968496"/>
            <a:ext cx="1842150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60572" y="3968496"/>
            <a:ext cx="1750710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C4899"/>
                </a:solidFill>
                <a:latin typeface="Segoe UI"/>
              </a:rPr>
              <a:t>Secrets Manager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creds · JWT · tokens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48442" y="3968496"/>
            <a:ext cx="1842150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94162" y="3968496"/>
            <a:ext cx="1750710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C4899"/>
                </a:solidFill>
                <a:latin typeface="Segoe UI"/>
              </a:rPr>
              <a:t>CloudTrail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API audit log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682032" y="3968496"/>
            <a:ext cx="1842150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27752" y="3968496"/>
            <a:ext cx="1750710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C4899"/>
                </a:solidFill>
                <a:latin typeface="Segoe UI"/>
              </a:rPr>
              <a:t>IAM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least-privilege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" y="4512564"/>
            <a:ext cx="11185855" cy="548640"/>
          </a:xfrm>
          <a:prstGeom prst="roundRect">
            <a:avLst>
              <a:gd name="adj" fmla="val 6000"/>
            </a:avLst>
          </a:prstGeom>
          <a:solidFill>
            <a:srgbClr val="1C123C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" y="4512564"/>
            <a:ext cx="1298448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B5CF6"/>
                </a:solidFill>
                <a:latin typeface="Segoe UI"/>
              </a:rPr>
              <a:t>Integrations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B5CF6"/>
                </a:solidFill>
                <a:latin typeface="Segoe UI"/>
              </a:rPr>
              <a:t>&amp; Notify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947672" y="4585716"/>
            <a:ext cx="1842150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93392" y="4585716"/>
            <a:ext cx="1750710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AWS Textract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document OCR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81262" y="4585716"/>
            <a:ext cx="1842150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926982" y="4585716"/>
            <a:ext cx="1750710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AWS Rekognition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face compare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814852" y="4585716"/>
            <a:ext cx="1842150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60572" y="4585716"/>
            <a:ext cx="1750710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KYC Partners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Surepass · IDfy · DigiLocker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748442" y="4585716"/>
            <a:ext cx="1842150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94162" y="4585716"/>
            <a:ext cx="1750710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SNS / SES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SMS OTP · email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682032" y="4585716"/>
            <a:ext cx="1842150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27752" y="4585716"/>
            <a:ext cx="1750710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AML / Sanctions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PEP screening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2920" y="5129784"/>
            <a:ext cx="11185855" cy="54864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" y="5129784"/>
            <a:ext cx="1298448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0D0"/>
                </a:solidFill>
                <a:latin typeface="Segoe UI"/>
              </a:rPr>
              <a:t>Ops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0D0"/>
                </a:solidFill>
                <a:latin typeface="Segoe UI"/>
              </a:rPr>
              <a:t>CI/CD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947672" y="520293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993392" y="5202936"/>
            <a:ext cx="2234107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0D0"/>
                </a:solidFill>
                <a:latin typeface="Segoe UI"/>
              </a:rPr>
              <a:t>Prometheus + Grafana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metrics, alerting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364659" y="520293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10379" y="5202936"/>
            <a:ext cx="2234107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0D0"/>
                </a:solidFill>
                <a:latin typeface="Segoe UI"/>
              </a:rPr>
              <a:t>CloudWatch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logs, anomalies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781647" y="520293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27367" y="5202936"/>
            <a:ext cx="2234107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0D0"/>
                </a:solidFill>
                <a:latin typeface="Segoe UI"/>
              </a:rPr>
              <a:t>GitHub Actions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build → test → push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198635" y="520293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44355" y="5202936"/>
            <a:ext cx="2234107" cy="4023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0D0"/>
                </a:solidFill>
                <a:latin typeface="Segoe UI"/>
              </a:rPr>
              <a:t>Amazon ECR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container registry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C9C"/>
                </a:solidFill>
                <a:latin typeface="Segoe UI"/>
              </a:rPr>
              <a:t>Engineering rigor: forward-only state machine · append-only agent_trace · 1 retry then graceful degrade · 20-hop loop guard · local LLM keeps customer data inside the bank's AWS account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217920"/>
            <a:ext cx="12191695" cy="18288"/>
          </a:xfrm>
          <a:prstGeom prst="rect">
            <a:avLst/>
          </a:prstGeom>
          <a:solidFill>
            <a:srgbClr val="1E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>
            <a:hlinkClick action="ppaction://hlinksldjump" r:id="rId3"/>
          </p:cNvPr>
          <p:cNvSpPr/>
          <p:nvPr/>
        </p:nvSpPr>
        <p:spPr>
          <a:xfrm>
            <a:off x="502920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Home</a:t>
            </a:r>
          </a:p>
        </p:txBody>
      </p:sp>
      <p:sp>
        <p:nvSpPr>
          <p:cNvPr id="89" name="Rounded Rectangle 88">
            <a:hlinkClick action="ppaction://hlinksldjump" r:id="rId4"/>
          </p:cNvPr>
          <p:cNvSpPr/>
          <p:nvPr/>
        </p:nvSpPr>
        <p:spPr>
          <a:xfrm>
            <a:off x="2382469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Bank · Arch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62018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060C1A"/>
                </a:solidFill>
                <a:latin typeface="Segoe UI"/>
              </a:rPr>
              <a:t>Bank · Prod</a:t>
            </a:r>
          </a:p>
        </p:txBody>
      </p:sp>
      <p:sp>
        <p:nvSpPr>
          <p:cNvPr id="91" name="Rounded Rectangle 90">
            <a:hlinkClick action="ppaction://hlinksldjump" r:id="rId5"/>
          </p:cNvPr>
          <p:cNvSpPr/>
          <p:nvPr/>
        </p:nvSpPr>
        <p:spPr>
          <a:xfrm>
            <a:off x="6141567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Voice · Why</a:t>
            </a:r>
          </a:p>
        </p:txBody>
      </p:sp>
      <p:sp>
        <p:nvSpPr>
          <p:cNvPr id="92" name="Rounded Rectangle 91">
            <a:hlinkClick action="ppaction://hlinksldjump" r:id="rId6"/>
          </p:cNvPr>
          <p:cNvSpPr/>
          <p:nvPr/>
        </p:nvSpPr>
        <p:spPr>
          <a:xfrm>
            <a:off x="8021116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Voice · How</a:t>
            </a:r>
          </a:p>
        </p:txBody>
      </p:sp>
      <p:sp>
        <p:nvSpPr>
          <p:cNvPr id="93" name="Rounded Rectangle 92">
            <a:hlinkClick action="ppaction://hlinksldjump" r:id="rId7"/>
          </p:cNvPr>
          <p:cNvSpPr/>
          <p:nvPr/>
        </p:nvSpPr>
        <p:spPr>
          <a:xfrm>
            <a:off x="9900665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Value</a:t>
            </a:r>
          </a:p>
        </p:txBody>
      </p:sp>
    </p:spTree>
  </p:cSld>
  <p:clrMapOvr>
    <a:masterClrMapping/>
  </p:clrMapOvr>
  <p:transition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8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65176"/>
            <a:ext cx="137160" cy="13716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7863840" cy="29260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C4899"/>
                </a:solidFill>
                <a:latin typeface="Segoe UI"/>
              </a:rPr>
              <a:t>AI VOICE CALLING AGENT  ·  PLATFORM 2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8503920" cy="47548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One Agent. Every Conversation.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896112"/>
            <a:ext cx="85039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0D0"/>
                </a:solidFill>
                <a:latin typeface="Segoe UI"/>
              </a:rPr>
              <a:t>Human-like phone conversations, fully automated — the measurable impact</a:t>
            </a:r>
          </a:p>
        </p:txBody>
      </p:sp>
      <p:pic>
        <p:nvPicPr>
          <p:cNvPr id="9" name="Picture 8" descr="teleglob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5686" y="274320"/>
            <a:ext cx="2363089" cy="5303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1444752"/>
            <a:ext cx="2659303" cy="1572768"/>
          </a:xfrm>
          <a:prstGeom prst="roundRect">
            <a:avLst>
              <a:gd name="adj" fmla="val 7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8" y="1463040"/>
            <a:ext cx="2622727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2476423" cy="116128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22D3EE"/>
                </a:solidFill>
                <a:latin typeface="Segoe UI"/>
              </a:rPr>
              <a:t>24/7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0D0"/>
                </a:solidFill>
                <a:latin typeface="Segoe UI"/>
              </a:rPr>
              <a:t>Always-on calling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5103" y="1444752"/>
            <a:ext cx="2659303" cy="1572768"/>
          </a:xfrm>
          <a:prstGeom prst="roundRect">
            <a:avLst>
              <a:gd name="adj" fmla="val 7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3391" y="1463040"/>
            <a:ext cx="2622727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6543" y="1719072"/>
            <a:ext cx="2476423" cy="116128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2DD4BF"/>
                </a:solidFill>
                <a:latin typeface="Segoe UI"/>
              </a:rPr>
              <a:t>1000s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0D0"/>
                </a:solidFill>
                <a:latin typeface="Segoe UI"/>
              </a:rPr>
              <a:t>Calls handled in parallel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1444752"/>
            <a:ext cx="2659303" cy="1572768"/>
          </a:xfrm>
          <a:prstGeom prst="roundRect">
            <a:avLst>
              <a:gd name="adj" fmla="val 7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5575" y="1463040"/>
            <a:ext cx="2622727" cy="64008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727" y="1719072"/>
            <a:ext cx="2476423" cy="116128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5B301"/>
                </a:solidFill>
                <a:latin typeface="Segoe UI"/>
              </a:rPr>
              <a:t>~90%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0D0"/>
                </a:solidFill>
                <a:latin typeface="Segoe UI"/>
              </a:rPr>
              <a:t>Lower cost vs human teams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9471" y="1444752"/>
            <a:ext cx="2659303" cy="1572768"/>
          </a:xfrm>
          <a:prstGeom prst="roundRect">
            <a:avLst>
              <a:gd name="adj" fmla="val 7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7759" y="1463040"/>
            <a:ext cx="2622727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0911" y="1719072"/>
            <a:ext cx="2476423" cy="116128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EC4899"/>
                </a:solidFill>
                <a:latin typeface="Segoe UI"/>
              </a:rPr>
              <a:t>100%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0D0"/>
                </a:solidFill>
                <a:latin typeface="Segoe UI"/>
              </a:rPr>
              <a:t>Consistent script &amp; quality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18688"/>
            <a:ext cx="2659303" cy="1463040"/>
          </a:xfrm>
          <a:prstGeom prst="roundRect">
            <a:avLst>
              <a:gd name="adj" fmla="val 7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1208" y="3236976"/>
            <a:ext cx="2622727" cy="50292"/>
          </a:xfrm>
          <a:prstGeom prst="rect">
            <a:avLst/>
          </a:prstGeom>
          <a:solidFill>
            <a:srgbClr val="3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3456432"/>
            <a:ext cx="420624" cy="420624"/>
          </a:xfrm>
          <a:prstGeom prst="ellipse">
            <a:avLst/>
          </a:prstGeom>
          <a:solidFill>
            <a:srgbClr val="3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56432"/>
            <a:ext cx="420624" cy="42062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60C1A"/>
                </a:solidFill>
                <a:latin typeface="Segoe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474720"/>
            <a:ext cx="1790623" cy="38404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Autonomous Calling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995928"/>
            <a:ext cx="2293543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0D0"/>
                </a:solidFill>
                <a:latin typeface="Segoe UI"/>
              </a:rPr>
              <a:t>Dials out on its own via cloud telephony.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45103" y="3218688"/>
            <a:ext cx="2659303" cy="1463040"/>
          </a:xfrm>
          <a:prstGeom prst="roundRect">
            <a:avLst>
              <a:gd name="adj" fmla="val 7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63391" y="3236976"/>
            <a:ext cx="2622727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27983" y="3456432"/>
            <a:ext cx="420624" cy="42062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7983" y="3456432"/>
            <a:ext cx="420624" cy="42062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60C1A"/>
                </a:solidFill>
                <a:latin typeface="Segoe U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8335" y="3474720"/>
            <a:ext cx="1790623" cy="38404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Natural Voice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7983" y="3995928"/>
            <a:ext cx="2293543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0D0"/>
                </a:solidFill>
                <a:latin typeface="Segoe UI"/>
              </a:rPr>
              <a:t>Understands speech, replies human-like.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7287" y="3218688"/>
            <a:ext cx="2659303" cy="1463040"/>
          </a:xfrm>
          <a:prstGeom prst="roundRect">
            <a:avLst>
              <a:gd name="adj" fmla="val 7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05575" y="3236976"/>
            <a:ext cx="2622727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70167" y="3456432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0167" y="3456432"/>
            <a:ext cx="420624" cy="42062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60C1A"/>
                </a:solidFill>
                <a:latin typeface="Segoe U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0519" y="3474720"/>
            <a:ext cx="1790623" cy="38404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Multilingual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0167" y="3995928"/>
            <a:ext cx="2293543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0D0"/>
                </a:solidFill>
                <a:latin typeface="Segoe UI"/>
              </a:rPr>
              <a:t>Switches languages mid-call, seamlessly.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29471" y="3218688"/>
            <a:ext cx="2659303" cy="1463040"/>
          </a:xfrm>
          <a:prstGeom prst="roundRect">
            <a:avLst>
              <a:gd name="adj" fmla="val 7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47759" y="3236976"/>
            <a:ext cx="2622727" cy="50292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12351" y="3456432"/>
            <a:ext cx="420624" cy="420624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2351" y="3456432"/>
            <a:ext cx="420624" cy="42062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60C1A"/>
                </a:solidFill>
                <a:latin typeface="Segoe U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42703" y="3474720"/>
            <a:ext cx="1790623" cy="38404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Structured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3995928"/>
            <a:ext cx="2293543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0D0"/>
                </a:solidFill>
                <a:latin typeface="Segoe UI"/>
              </a:rPr>
              <a:t>Turns every answer into clean data.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4864608"/>
            <a:ext cx="11185855" cy="914400"/>
          </a:xfrm>
          <a:prstGeom prst="roundRect">
            <a:avLst>
              <a:gd name="adj" fmla="val 7000"/>
            </a:avLst>
          </a:prstGeom>
          <a:solidFill>
            <a:srgbClr val="2A0F24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1208" y="4882896"/>
            <a:ext cx="11149280" cy="50292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" y="5010912"/>
            <a:ext cx="10710367" cy="62179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4899"/>
                </a:solidFill>
                <a:latin typeface="Segoe UI"/>
              </a:rPr>
              <a:t>Why manual calling doesn't scale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0D0"/>
                </a:solidFill>
                <a:latin typeface="Segoe UI"/>
              </a:rPr>
              <a:t>Limited capacity  ·  expensive teams to hire and retain  ·  inconsistent tone and data capture  ·  language gaps needing specialist staff  ·  call insights rarely captured as clean data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C9C"/>
                </a:solidFill>
                <a:latin typeface="Segoe UI"/>
              </a:rPr>
              <a:t>24/7 capacity · consistent quality · lower cost · richer data — with no extra headcount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217920"/>
            <a:ext cx="12191695" cy="18288"/>
          </a:xfrm>
          <a:prstGeom prst="rect">
            <a:avLst/>
          </a:prstGeom>
          <a:solidFill>
            <a:srgbClr val="1E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>
            <a:hlinkClick action="ppaction://hlinksldjump" r:id="rId3"/>
          </p:cNvPr>
          <p:cNvSpPr/>
          <p:nvPr/>
        </p:nvSpPr>
        <p:spPr>
          <a:xfrm>
            <a:off x="502920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Home</a:t>
            </a:r>
          </a:p>
        </p:txBody>
      </p:sp>
      <p:sp>
        <p:nvSpPr>
          <p:cNvPr id="52" name="Rounded Rectangle 51">
            <a:hlinkClick action="ppaction://hlinksldjump" r:id="rId4"/>
          </p:cNvPr>
          <p:cNvSpPr/>
          <p:nvPr/>
        </p:nvSpPr>
        <p:spPr>
          <a:xfrm>
            <a:off x="2382469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Bank · Arch</a:t>
            </a:r>
          </a:p>
        </p:txBody>
      </p:sp>
      <p:sp>
        <p:nvSpPr>
          <p:cNvPr id="53" name="Rounded Rectangle 52">
            <a:hlinkClick action="ppaction://hlinksldjump" r:id="rId5"/>
          </p:cNvPr>
          <p:cNvSpPr/>
          <p:nvPr/>
        </p:nvSpPr>
        <p:spPr>
          <a:xfrm>
            <a:off x="4262018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Bank · Prod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41567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060C1A"/>
                </a:solidFill>
                <a:latin typeface="Segoe UI"/>
              </a:rPr>
              <a:t>Voice · Why</a:t>
            </a:r>
          </a:p>
        </p:txBody>
      </p:sp>
      <p:sp>
        <p:nvSpPr>
          <p:cNvPr id="55" name="Rounded Rectangle 54">
            <a:hlinkClick action="ppaction://hlinksldjump" r:id="rId6"/>
          </p:cNvPr>
          <p:cNvSpPr/>
          <p:nvPr/>
        </p:nvSpPr>
        <p:spPr>
          <a:xfrm>
            <a:off x="8021116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Voice · How</a:t>
            </a:r>
          </a:p>
        </p:txBody>
      </p:sp>
      <p:sp>
        <p:nvSpPr>
          <p:cNvPr id="56" name="Rounded Rectangle 55">
            <a:hlinkClick action="ppaction://hlinksldjump" r:id="rId7"/>
          </p:cNvPr>
          <p:cNvSpPr/>
          <p:nvPr/>
        </p:nvSpPr>
        <p:spPr>
          <a:xfrm>
            <a:off x="9900665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Value</a:t>
            </a:r>
          </a:p>
        </p:txBody>
      </p:sp>
    </p:spTree>
  </p:cSld>
  <p:clrMapOvr>
    <a:masterClrMapping/>
  </p:clrMapOvr>
  <p:transition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8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65176"/>
            <a:ext cx="137160" cy="13716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7863840" cy="29260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C4899"/>
                </a:solidFill>
                <a:latin typeface="Segoe UI"/>
              </a:rPr>
              <a:t>AI VOICE CALLING AGENT  ·  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8503920" cy="47548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Architecture, Decisioning &amp; 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896112"/>
            <a:ext cx="85039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0D0"/>
                </a:solidFill>
                <a:latin typeface="Segoe UI"/>
              </a:rPr>
              <a:t>From API trigger to structured data — and how the agent picks every reply</a:t>
            </a:r>
          </a:p>
        </p:txBody>
      </p:sp>
      <p:pic>
        <p:nvPicPr>
          <p:cNvPr id="9" name="Picture 8" descr="teleglob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5686" y="274320"/>
            <a:ext cx="2363089" cy="5303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1426464"/>
            <a:ext cx="6675120" cy="2395728"/>
          </a:xfrm>
          <a:prstGeom prst="roundRect">
            <a:avLst>
              <a:gd name="adj" fmla="val 5000"/>
            </a:avLst>
          </a:prstGeom>
          <a:solidFill>
            <a:srgbClr val="0E1832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8" y="1444752"/>
            <a:ext cx="6638544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1572768"/>
            <a:ext cx="62179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2D3EE"/>
                </a:solidFill>
                <a:latin typeface="Segoe UI"/>
              </a:rPr>
              <a:t>Solution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1938528"/>
            <a:ext cx="1773936" cy="56692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1938528"/>
            <a:ext cx="1682496" cy="56692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Trigger / UI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FB0D0"/>
                </a:solidFill>
                <a:latin typeface="Segoe UI"/>
              </a:rPr>
              <a:t>Start Call API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74036" y="2121408"/>
            <a:ext cx="173736" cy="201168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88920" y="1938528"/>
            <a:ext cx="1773936" cy="56692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1938528"/>
            <a:ext cx="1682496" cy="56692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Cloud Telephony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FB0D0"/>
                </a:solidFill>
                <a:latin typeface="Segoe UI"/>
              </a:rPr>
              <a:t>Twilio / Connect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604004" y="2121408"/>
            <a:ext cx="173736" cy="201168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18888" y="1938528"/>
            <a:ext cx="1773936" cy="56692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1938528"/>
            <a:ext cx="1682496" cy="56692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Customer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FB0D0"/>
                </a:solidFill>
                <a:latin typeface="Segoe UI"/>
              </a:rPr>
              <a:t>Phone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2743200"/>
            <a:ext cx="6163056" cy="512064"/>
          </a:xfrm>
          <a:prstGeom prst="roundRect">
            <a:avLst>
              <a:gd name="adj" fmla="val 10000"/>
            </a:avLst>
          </a:prstGeom>
          <a:solidFill>
            <a:srgbClr val="24184E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2743200"/>
            <a:ext cx="6071616" cy="51206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Application Server — Orchestrator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FB0D0"/>
                </a:solidFill>
                <a:latin typeface="Segoe UI"/>
              </a:rPr>
              <a:t>Call Flow  ·  State Machine  ·  Language Detection</a:t>
            </a:r>
          </a:p>
        </p:txBody>
      </p:sp>
      <p:sp>
        <p:nvSpPr>
          <p:cNvPr id="23" name="Right Arrow 22"/>
          <p:cNvSpPr/>
          <p:nvPr/>
        </p:nvSpPr>
        <p:spPr>
          <a:xfrm rot="5400000">
            <a:off x="3611880" y="2560320"/>
            <a:ext cx="173736" cy="164592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8952" y="3383280"/>
            <a:ext cx="1472184" cy="384048"/>
          </a:xfrm>
          <a:prstGeom prst="roundRect">
            <a:avLst>
              <a:gd name="adj" fmla="val 10000"/>
            </a:avLst>
          </a:prstGeom>
          <a:solidFill>
            <a:srgbClr val="101B38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83280"/>
            <a:ext cx="1380744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2D3EE"/>
                </a:solidFill>
                <a:latin typeface="Segoe UI"/>
              </a:rPr>
              <a:t>Speech-to-Text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22576" y="3383280"/>
            <a:ext cx="1472184" cy="384048"/>
          </a:xfrm>
          <a:prstGeom prst="roundRect">
            <a:avLst>
              <a:gd name="adj" fmla="val 10000"/>
            </a:avLst>
          </a:prstGeom>
          <a:solidFill>
            <a:srgbClr val="101B38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68296" y="3383280"/>
            <a:ext cx="1380744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5B301"/>
                </a:solidFill>
                <a:latin typeface="Segoe UI"/>
              </a:rPr>
              <a:t>Text-to-Speech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3383280"/>
            <a:ext cx="1472184" cy="384048"/>
          </a:xfrm>
          <a:prstGeom prst="roundRect">
            <a:avLst>
              <a:gd name="adj" fmla="val 10000"/>
            </a:avLst>
          </a:prstGeom>
          <a:solidFill>
            <a:srgbClr val="101B38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3383280"/>
            <a:ext cx="1380744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8B5CF6"/>
                </a:solidFill>
                <a:latin typeface="Segoe UI"/>
              </a:rPr>
              <a:t>LLM (AI Brain)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49824" y="3383280"/>
            <a:ext cx="1472184" cy="384048"/>
          </a:xfrm>
          <a:prstGeom prst="roundRect">
            <a:avLst>
              <a:gd name="adj" fmla="val 10000"/>
            </a:avLst>
          </a:prstGeom>
          <a:solidFill>
            <a:srgbClr val="101B38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95544" y="3383280"/>
            <a:ext cx="1380744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2C58B"/>
                </a:solidFill>
                <a:latin typeface="Segoe UI"/>
              </a:rPr>
              <a:t>Database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1426464"/>
            <a:ext cx="4282135" cy="2395728"/>
          </a:xfrm>
          <a:prstGeom prst="roundRect">
            <a:avLst>
              <a:gd name="adj" fmla="val 5000"/>
            </a:avLst>
          </a:prstGeom>
          <a:solidFill>
            <a:srgbClr val="0E1832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24928" y="1444752"/>
            <a:ext cx="4245559" cy="50292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26096" y="1572768"/>
            <a:ext cx="3824935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B301"/>
                </a:solidFill>
                <a:latin typeface="Segoe UI"/>
              </a:rPr>
              <a:t>How it decides what to say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26096" y="1938528"/>
            <a:ext cx="3843223" cy="548640"/>
          </a:xfrm>
          <a:prstGeom prst="roundRect">
            <a:avLst>
              <a:gd name="adj" fmla="val 12000"/>
            </a:avLst>
          </a:prstGeom>
          <a:solidFill>
            <a:srgbClr val="141F3C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26096" y="1993392"/>
            <a:ext cx="68580" cy="438912"/>
          </a:xfrm>
          <a:prstGeom prst="rect">
            <a:avLst/>
          </a:prstGeom>
          <a:solidFill>
            <a:srgbClr val="22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808976" y="2057400"/>
            <a:ext cx="310896" cy="310896"/>
          </a:xfrm>
          <a:prstGeom prst="ellipse">
            <a:avLst/>
          </a:prstGeom>
          <a:solidFill>
            <a:srgbClr val="22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8976" y="2057400"/>
            <a:ext cx="310896" cy="31089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60C1A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002536"/>
            <a:ext cx="2179015" cy="420624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Scripted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0D0"/>
                </a:solidFill>
                <a:latin typeface="Segoe UI"/>
              </a:rPr>
              <a:t>Pre-cached questions, ~40 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08615" y="2075688"/>
            <a:ext cx="1005840" cy="274320"/>
          </a:xfrm>
          <a:prstGeom prst="roundRect">
            <a:avLst>
              <a:gd name="adj" fmla="val 42000"/>
            </a:avLst>
          </a:prstGeom>
          <a:solidFill>
            <a:srgbClr val="22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60C1A"/>
                </a:solidFill>
                <a:latin typeface="Segoe UI"/>
              </a:rPr>
              <a:t>FASTEST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26096" y="2596896"/>
            <a:ext cx="3843223" cy="548640"/>
          </a:xfrm>
          <a:prstGeom prst="roundRect">
            <a:avLst>
              <a:gd name="adj" fmla="val 12000"/>
            </a:avLst>
          </a:prstGeom>
          <a:solidFill>
            <a:srgbClr val="141F3C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26096" y="2651760"/>
            <a:ext cx="68580" cy="438912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08976" y="2715768"/>
            <a:ext cx="310896" cy="310896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08976" y="2715768"/>
            <a:ext cx="310896" cy="31089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60C1A"/>
                </a:solidFill>
                <a:latin typeface="Segoe U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660904"/>
            <a:ext cx="2179015" cy="420624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FAQ Match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0D0"/>
                </a:solidFill>
                <a:latin typeface="Segoe UI"/>
              </a:rPr>
              <a:t>Keyword answers: price, location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08615" y="2734056"/>
            <a:ext cx="1005840" cy="274320"/>
          </a:xfrm>
          <a:prstGeom prst="roundRect">
            <a:avLst>
              <a:gd name="adj" fmla="val 42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60C1A"/>
                </a:solidFill>
                <a:latin typeface="Segoe UI"/>
              </a:rPr>
              <a:t>FAST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26096" y="3255264"/>
            <a:ext cx="3843223" cy="548640"/>
          </a:xfrm>
          <a:prstGeom prst="roundRect">
            <a:avLst>
              <a:gd name="adj" fmla="val 12000"/>
            </a:avLst>
          </a:prstGeom>
          <a:solidFill>
            <a:srgbClr val="141F3C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626096" y="3310128"/>
            <a:ext cx="68580" cy="43891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808976" y="3374136"/>
            <a:ext cx="310896" cy="3108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08976" y="3374136"/>
            <a:ext cx="310896" cy="31089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60C1A"/>
                </a:solidFill>
                <a:latin typeface="Segoe UI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3319272"/>
            <a:ext cx="2179015" cy="420624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AI (LLM)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0D0"/>
                </a:solidFill>
                <a:latin typeface="Segoe UI"/>
              </a:rPr>
              <a:t>Dynamic reply for anything off-script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08615" y="3392424"/>
            <a:ext cx="1005840" cy="274320"/>
          </a:xfrm>
          <a:prstGeom prst="roundRect">
            <a:avLst>
              <a:gd name="adj" fmla="val 4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60C1A"/>
                </a:solidFill>
                <a:latin typeface="Segoe UI"/>
              </a:rPr>
              <a:t>FLEXIBLE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4041648"/>
            <a:ext cx="1286217" cy="786384"/>
          </a:xfrm>
          <a:prstGeom prst="roundRect">
            <a:avLst>
              <a:gd name="adj" fmla="val 10000"/>
            </a:avLst>
          </a:prstGeom>
          <a:solidFill>
            <a:srgbClr val="121D3A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1208" y="4059936"/>
            <a:ext cx="1249641" cy="45720"/>
          </a:xfrm>
          <a:prstGeom prst="rect">
            <a:avLst/>
          </a:prstGeom>
          <a:solidFill>
            <a:srgbClr val="3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151376"/>
            <a:ext cx="1194777" cy="60350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1.  Initiate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FB0D0"/>
                </a:solidFill>
                <a:latin typeface="Segoe UI"/>
              </a:rPr>
              <a:t>API trigger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917153" y="4041648"/>
            <a:ext cx="1286217" cy="786384"/>
          </a:xfrm>
          <a:prstGeom prst="roundRect">
            <a:avLst>
              <a:gd name="adj" fmla="val 10000"/>
            </a:avLst>
          </a:prstGeom>
          <a:solidFill>
            <a:srgbClr val="121D3A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35441" y="4059936"/>
            <a:ext cx="1249641" cy="45720"/>
          </a:xfrm>
          <a:prstGeom prst="rect">
            <a:avLst/>
          </a:prstGeom>
          <a:solidFill>
            <a:srgbClr val="3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62873" y="4151376"/>
            <a:ext cx="1194777" cy="60350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2.  Connect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FB0D0"/>
                </a:solidFill>
                <a:latin typeface="Segoe UI"/>
              </a:rPr>
              <a:t>customer answers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31387" y="4041648"/>
            <a:ext cx="1286217" cy="786384"/>
          </a:xfrm>
          <a:prstGeom prst="roundRect">
            <a:avLst>
              <a:gd name="adj" fmla="val 10000"/>
            </a:avLst>
          </a:prstGeom>
          <a:solidFill>
            <a:srgbClr val="121D3A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49675" y="4059936"/>
            <a:ext cx="1249641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77107" y="4151376"/>
            <a:ext cx="1194777" cy="60350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3.  Greet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FB0D0"/>
                </a:solidFill>
                <a:latin typeface="Segoe UI"/>
              </a:rPr>
              <a:t>first question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45621" y="4041648"/>
            <a:ext cx="1286217" cy="786384"/>
          </a:xfrm>
          <a:prstGeom prst="roundRect">
            <a:avLst>
              <a:gd name="adj" fmla="val 10000"/>
            </a:avLst>
          </a:prstGeom>
          <a:solidFill>
            <a:srgbClr val="121D3A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63909" y="4059936"/>
            <a:ext cx="1249641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91341" y="4151376"/>
            <a:ext cx="1194777" cy="60350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4.  Listen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FB0D0"/>
                </a:solidFill>
                <a:latin typeface="Segoe UI"/>
              </a:rPr>
              <a:t>speech to text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59855" y="4041648"/>
            <a:ext cx="1286217" cy="786384"/>
          </a:xfrm>
          <a:prstGeom prst="roundRect">
            <a:avLst>
              <a:gd name="adj" fmla="val 10000"/>
            </a:avLst>
          </a:prstGeom>
          <a:solidFill>
            <a:srgbClr val="121D3A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8143" y="4059936"/>
            <a:ext cx="1249641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05575" y="4151376"/>
            <a:ext cx="1194777" cy="60350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5.  Decide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FB0D0"/>
                </a:solidFill>
                <a:latin typeface="Segoe UI"/>
              </a:rPr>
              <a:t>pick reply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74089" y="4041648"/>
            <a:ext cx="1286217" cy="786384"/>
          </a:xfrm>
          <a:prstGeom prst="roundRect">
            <a:avLst>
              <a:gd name="adj" fmla="val 10000"/>
            </a:avLst>
          </a:prstGeom>
          <a:solidFill>
            <a:srgbClr val="121D3A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592377" y="4059936"/>
            <a:ext cx="1249641" cy="45720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19809" y="4151376"/>
            <a:ext cx="1194777" cy="60350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6.  Respond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FB0D0"/>
                </a:solidFill>
                <a:latin typeface="Segoe UI"/>
              </a:rPr>
              <a:t>text to voice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988323" y="4041648"/>
            <a:ext cx="1286217" cy="786384"/>
          </a:xfrm>
          <a:prstGeom prst="roundRect">
            <a:avLst>
              <a:gd name="adj" fmla="val 10000"/>
            </a:avLst>
          </a:prstGeom>
          <a:solidFill>
            <a:srgbClr val="121D3A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006611" y="4059936"/>
            <a:ext cx="1249641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34043" y="4151376"/>
            <a:ext cx="1194777" cy="60350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7.  Loop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FB0D0"/>
                </a:solidFill>
                <a:latin typeface="Segoe UI"/>
              </a:rPr>
              <a:t>each turn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402557" y="4041648"/>
            <a:ext cx="1286217" cy="786384"/>
          </a:xfrm>
          <a:prstGeom prst="roundRect">
            <a:avLst>
              <a:gd name="adj" fmla="val 10000"/>
            </a:avLst>
          </a:prstGeom>
          <a:solidFill>
            <a:srgbClr val="121D3A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420845" y="4059936"/>
            <a:ext cx="1249641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448277" y="4151376"/>
            <a:ext cx="1194777" cy="60350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8.  Close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FB0D0"/>
                </a:solidFill>
                <a:latin typeface="Segoe UI"/>
              </a:rPr>
              <a:t>save &amp; end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2920" y="4992624"/>
            <a:ext cx="11185855" cy="786384"/>
          </a:xfrm>
          <a:prstGeom prst="roundRect">
            <a:avLst>
              <a:gd name="adj" fmla="val 8000"/>
            </a:avLst>
          </a:prstGeom>
          <a:solidFill>
            <a:srgbClr val="0A1F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21207" y="5010912"/>
            <a:ext cx="11149280" cy="502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5120640"/>
            <a:ext cx="2834640" cy="53035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DD4BF"/>
                </a:solidFill>
                <a:latin typeface="Segoe UI"/>
              </a:rPr>
              <a:t>Speaks their language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0D0"/>
                </a:solidFill>
                <a:latin typeface="Segoe UI"/>
              </a:rPr>
              <a:t>switches mid-call, no interruption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749039" y="5193792"/>
            <a:ext cx="1234440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94759" y="5193792"/>
            <a:ext cx="1143000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English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093207" y="5193792"/>
            <a:ext cx="1234440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38927" y="5193792"/>
            <a:ext cx="1143000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हिन्दी Hindi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37375" y="5193792"/>
            <a:ext cx="1234440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83095" y="5193792"/>
            <a:ext cx="1143000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मराठी Marathi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781543" y="5193792"/>
            <a:ext cx="1234440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27263" y="5193792"/>
            <a:ext cx="1143000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+ More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89720" y="5120640"/>
            <a:ext cx="2377440" cy="53035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B0D0"/>
                </a:solidFill>
                <a:latin typeface="Segoe UI"/>
              </a:rPr>
              <a:t>Detects explicit requests and language cues, then swaps both voice and recognition instantly.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C9C"/>
                </a:solidFill>
                <a:latin typeface="Segoe UI"/>
              </a:rPr>
              <a:t>Stack: Python + FastAPI · Twilio / Amazon Connect · provider STT · Sarvam AI / Amazon Polly · AWS Bedrock (Claude) · DynamoDB · Amazon EC2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217920"/>
            <a:ext cx="12191695" cy="18288"/>
          </a:xfrm>
          <a:prstGeom prst="rect">
            <a:avLst/>
          </a:prstGeom>
          <a:solidFill>
            <a:srgbClr val="1E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>
            <a:hlinkClick action="ppaction://hlinksldjump" r:id="rId3"/>
          </p:cNvPr>
          <p:cNvSpPr/>
          <p:nvPr/>
        </p:nvSpPr>
        <p:spPr>
          <a:xfrm>
            <a:off x="502920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Home</a:t>
            </a:r>
          </a:p>
        </p:txBody>
      </p:sp>
      <p:sp>
        <p:nvSpPr>
          <p:cNvPr id="92" name="Rounded Rectangle 91">
            <a:hlinkClick action="ppaction://hlinksldjump" r:id="rId4"/>
          </p:cNvPr>
          <p:cNvSpPr/>
          <p:nvPr/>
        </p:nvSpPr>
        <p:spPr>
          <a:xfrm>
            <a:off x="2382469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Bank · Arch</a:t>
            </a:r>
          </a:p>
        </p:txBody>
      </p:sp>
      <p:sp>
        <p:nvSpPr>
          <p:cNvPr id="93" name="Rounded Rectangle 92">
            <a:hlinkClick action="ppaction://hlinksldjump" r:id="rId5"/>
          </p:cNvPr>
          <p:cNvSpPr/>
          <p:nvPr/>
        </p:nvSpPr>
        <p:spPr>
          <a:xfrm>
            <a:off x="4262018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Bank · Prod</a:t>
            </a:r>
          </a:p>
        </p:txBody>
      </p:sp>
      <p:sp>
        <p:nvSpPr>
          <p:cNvPr id="94" name="Rounded Rectangle 93">
            <a:hlinkClick action="ppaction://hlinksldjump" r:id="rId6"/>
          </p:cNvPr>
          <p:cNvSpPr/>
          <p:nvPr/>
        </p:nvSpPr>
        <p:spPr>
          <a:xfrm>
            <a:off x="6141567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Voice · Why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021116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060C1A"/>
                </a:solidFill>
                <a:latin typeface="Segoe UI"/>
              </a:rPr>
              <a:t>Voice · How</a:t>
            </a:r>
          </a:p>
        </p:txBody>
      </p:sp>
      <p:sp>
        <p:nvSpPr>
          <p:cNvPr id="96" name="Rounded Rectangle 95">
            <a:hlinkClick action="ppaction://hlinksldjump" r:id="rId7"/>
          </p:cNvPr>
          <p:cNvSpPr/>
          <p:nvPr/>
        </p:nvSpPr>
        <p:spPr>
          <a:xfrm>
            <a:off x="9900665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Value</a:t>
            </a:r>
          </a:p>
        </p:txBody>
      </p:sp>
    </p:spTree>
  </p:cSld>
  <p:clrMapOvr>
    <a:masterClrMapping/>
  </p:clrMapOvr>
  <p:transition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8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0292"/>
          </a:xfrm>
          <a:prstGeom prst="rect">
            <a:avLst/>
          </a:prstGeom>
          <a:solidFill>
            <a:srgbClr val="22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65176"/>
            <a:ext cx="137160" cy="137160"/>
          </a:xfrm>
          <a:prstGeom prst="ellipse">
            <a:avLst/>
          </a:prstGeom>
          <a:solidFill>
            <a:srgbClr val="22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7863840" cy="29260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C58B"/>
                </a:solidFill>
                <a:latin typeface="Segoe UI"/>
              </a:rPr>
              <a:t>COMBINED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8503920" cy="47548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Two Platforms, One Engineering 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896112"/>
            <a:ext cx="85039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0D0"/>
                </a:solidFill>
                <a:latin typeface="Segoe UI"/>
              </a:rPr>
              <a:t>What both systems share — and why that matters for your rollout</a:t>
            </a:r>
          </a:p>
        </p:txBody>
      </p:sp>
      <p:pic>
        <p:nvPicPr>
          <p:cNvPr id="9" name="Picture 8" descr="teleglob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5686" y="274320"/>
            <a:ext cx="2363089" cy="5303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1481328"/>
            <a:ext cx="3594506" cy="1920240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8" y="1499616"/>
            <a:ext cx="3557930" cy="50292"/>
          </a:xfrm>
          <a:prstGeom prst="rect">
            <a:avLst/>
          </a:prstGeom>
          <a:solidFill>
            <a:srgbClr val="22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655064"/>
            <a:ext cx="3265322" cy="1609344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Built to scale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Thousands of calls in parallel, round the clock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Agent layer adds specialists with no routing changes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Data-driven catalogues and scripts — swap per 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8594" y="1481328"/>
            <a:ext cx="3594506" cy="1920240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6882" y="1499616"/>
            <a:ext cx="355793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3186" y="1655064"/>
            <a:ext cx="3265322" cy="1609344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Secure by design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JWT + RBAC on every staff surface, 4 roles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Encryption at rest (SSE-KMS), 1h presigned URLs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Local LLM option — data never leaves the account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4268" y="1481328"/>
            <a:ext cx="3594506" cy="1920240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2556" y="1499616"/>
            <a:ext cx="355793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8860" y="1655064"/>
            <a:ext cx="3265322" cy="1609344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Production-minded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Forward-only state machines, append-only audit trails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Graceful degradation instead of 5xx failures</a:t>
            </a:r>
          </a:p>
          <a:p>
            <a:pPr algn="l" marL="132000" indent="-132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Dockerized, CI to ECR, deployed on ECS / EKS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02736"/>
            <a:ext cx="11185855" cy="859536"/>
          </a:xfrm>
          <a:prstGeom prst="roundRect">
            <a:avLst>
              <a:gd name="adj" fmla="val 7000"/>
            </a:avLst>
          </a:prstGeom>
          <a:solidFill>
            <a:srgbClr val="0E1832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" y="3621024"/>
            <a:ext cx="11149280" cy="50292"/>
          </a:xfrm>
          <a:prstGeom prst="rect">
            <a:avLst/>
          </a:prstGeom>
          <a:solidFill>
            <a:srgbClr val="3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3721608"/>
            <a:ext cx="2194560" cy="62179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7BFF"/>
                </a:solidFill>
                <a:latin typeface="Segoe UI"/>
              </a:rPr>
              <a:t>Shared foundations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3840480"/>
            <a:ext cx="1481328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3840480"/>
            <a:ext cx="1389888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EAF0FF"/>
                </a:solidFill>
                <a:latin typeface="Segoe UI"/>
              </a:rPr>
              <a:t>Python + FastAPI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3128" y="3840480"/>
            <a:ext cx="1481328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3840480"/>
            <a:ext cx="1389888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EAF0FF"/>
                </a:solidFill>
                <a:latin typeface="Segoe UI"/>
              </a:rPr>
              <a:t>LLM orchestration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25896" y="3840480"/>
            <a:ext cx="1481328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71616" y="3840480"/>
            <a:ext cx="1389888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EAF0FF"/>
                </a:solidFill>
                <a:latin typeface="Segoe UI"/>
              </a:rPr>
              <a:t>PostgreSQL / DynamoDB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98664" y="3840480"/>
            <a:ext cx="1481328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44384" y="3840480"/>
            <a:ext cx="1389888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EAF0FF"/>
                </a:solidFill>
                <a:latin typeface="Segoe UI"/>
              </a:rPr>
              <a:t>AWS managed services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71432" y="3840480"/>
            <a:ext cx="1481328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7152" y="3840480"/>
            <a:ext cx="1389888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EAF0FF"/>
                </a:solidFill>
                <a:latin typeface="Segoe UI"/>
              </a:rPr>
              <a:t>Docker + CI/CD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44200" y="3840480"/>
            <a:ext cx="1481328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0" y="3840480"/>
            <a:ext cx="1389888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EAF0FF"/>
                </a:solidFill>
                <a:latin typeface="Segoe UI"/>
              </a:rPr>
              <a:t>Prometheus / CloudWatch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626864"/>
            <a:ext cx="11185855" cy="1152144"/>
          </a:xfrm>
          <a:prstGeom prst="roundRect">
            <a:avLst>
              <a:gd name="adj" fmla="val 7000"/>
            </a:avLst>
          </a:prstGeom>
          <a:solidFill>
            <a:srgbClr val="141440"/>
          </a:solidFill>
          <a:ln w="15875">
            <a:solidFill>
              <a:srgbClr val="3D52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773168"/>
            <a:ext cx="11185855" cy="85953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Thank You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Segoe UI"/>
              </a:rPr>
              <a:t>Smarter onboarding and smarter conversations, at scale  ·  Questions &amp; Discussion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C9C"/>
                </a:solidFill>
                <a:latin typeface="Segoe UI"/>
              </a:rPr>
              <a:t>teleGlobal — Elevating business to technology  |  click any label in the bar below to revisit a section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217920"/>
            <a:ext cx="12191695" cy="18288"/>
          </a:xfrm>
          <a:prstGeom prst="rect">
            <a:avLst/>
          </a:prstGeom>
          <a:solidFill>
            <a:srgbClr val="1E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>
            <a:hlinkClick action="ppaction://hlinksldjump" r:id="rId3"/>
          </p:cNvPr>
          <p:cNvSpPr/>
          <p:nvPr/>
        </p:nvSpPr>
        <p:spPr>
          <a:xfrm>
            <a:off x="502920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Home</a:t>
            </a:r>
          </a:p>
        </p:txBody>
      </p:sp>
      <p:sp>
        <p:nvSpPr>
          <p:cNvPr id="39" name="Rounded Rectangle 38">
            <a:hlinkClick action="ppaction://hlinksldjump" r:id="rId4"/>
          </p:cNvPr>
          <p:cNvSpPr/>
          <p:nvPr/>
        </p:nvSpPr>
        <p:spPr>
          <a:xfrm>
            <a:off x="2382469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Bank · Arch</a:t>
            </a:r>
          </a:p>
        </p:txBody>
      </p:sp>
      <p:sp>
        <p:nvSpPr>
          <p:cNvPr id="40" name="Rounded Rectangle 39">
            <a:hlinkClick action="ppaction://hlinksldjump" r:id="rId5"/>
          </p:cNvPr>
          <p:cNvSpPr/>
          <p:nvPr/>
        </p:nvSpPr>
        <p:spPr>
          <a:xfrm>
            <a:off x="4262018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Bank · Prod</a:t>
            </a:r>
          </a:p>
        </p:txBody>
      </p:sp>
      <p:sp>
        <p:nvSpPr>
          <p:cNvPr id="41" name="Rounded Rectangle 40">
            <a:hlinkClick action="ppaction://hlinksldjump" r:id="rId6"/>
          </p:cNvPr>
          <p:cNvSpPr/>
          <p:nvPr/>
        </p:nvSpPr>
        <p:spPr>
          <a:xfrm>
            <a:off x="6141567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Voice · Why</a:t>
            </a:r>
          </a:p>
        </p:txBody>
      </p:sp>
      <p:sp>
        <p:nvSpPr>
          <p:cNvPr id="42" name="Rounded Rectangle 41">
            <a:hlinkClick action="ppaction://hlinksldjump" r:id="rId7"/>
          </p:cNvPr>
          <p:cNvSpPr/>
          <p:nvPr/>
        </p:nvSpPr>
        <p:spPr>
          <a:xfrm>
            <a:off x="8021116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Voice · How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00665" y="6272784"/>
            <a:ext cx="1788109" cy="384048"/>
          </a:xfrm>
          <a:prstGeom prst="roundRect">
            <a:avLst>
              <a:gd name="adj" fmla="val 42000"/>
            </a:avLst>
          </a:prstGeom>
          <a:solidFill>
            <a:srgbClr val="22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>
                <a:solidFill>
                  <a:srgbClr val="060C1A"/>
                </a:solidFill>
                <a:latin typeface="Segoe UI"/>
              </a:rPr>
              <a:t>Value</a:t>
            </a:r>
          </a:p>
        </p:txBody>
      </p:sp>
    </p:spTree>
  </p:cSld>
  <p:clrMapOvr>
    <a:masterClrMapping/>
  </p:clrMapOvr>
  <p:transition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