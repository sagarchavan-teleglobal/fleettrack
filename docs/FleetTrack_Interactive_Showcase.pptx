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3840480" cy="2743200"/>
          </a:xfrm>
          <a:prstGeom prst="roundRect">
            <a:avLst>
              <a:gd name="adj" fmla="val 50000"/>
            </a:avLst>
          </a:prstGeom>
          <a:solidFill>
            <a:srgbClr val="162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9760" y="4206240"/>
            <a:ext cx="4206240" cy="3108960"/>
          </a:xfrm>
          <a:prstGeom prst="roundRect">
            <a:avLst>
              <a:gd name="adj" fmla="val 50000"/>
            </a:avLst>
          </a:prstGeom>
          <a:solidFill>
            <a:srgbClr val="0C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658368"/>
            <a:ext cx="3063240" cy="384048"/>
          </a:xfrm>
          <a:prstGeom prst="roundRect">
            <a:avLst>
              <a:gd name="adj" fmla="val 42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60C1A"/>
                </a:solidFill>
                <a:latin typeface="Segoe UI"/>
              </a:rPr>
              <a:t>FleetTrack  ·  teleGlobal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607040" cy="1554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Real-Time Fleet,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22D3EE"/>
                </a:solidFill>
                <a:latin typeface="Segoe UI"/>
              </a:rPr>
              <a:t>Built to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10241280" cy="42062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FB0D0"/>
                </a:solidFill>
                <a:latin typeface="Segoe UI"/>
              </a:rPr>
              <a:t>Live GPS tracking, crane booking &amp; AI-assisted vendor operations — one production-grade platform. Click a card to jump straight in.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685800" y="3364992"/>
            <a:ext cx="5257800" cy="2212848"/>
          </a:xfrm>
          <a:prstGeom prst="roundRect">
            <a:avLst>
              <a:gd name="adj" fmla="val 7000"/>
            </a:avLst>
          </a:prstGeom>
          <a:solidFill>
            <a:srgbClr val="11224A"/>
          </a:solidFill>
          <a:ln w="19050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3383280"/>
            <a:ext cx="5221224" cy="7315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" y="3639312"/>
            <a:ext cx="4636008" cy="17373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How It's Built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9FB0D0"/>
                </a:solidFill>
                <a:latin typeface="Segoe UI"/>
              </a:rPr>
              <a:t>Next.js 16 frontend, FastAPI backend, WebSocket/SSE real-time layer and a local LLM chat + voice console — the full technical design.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Architecture  ·  As-Built  ·  Highlights  →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6245352" y="3364992"/>
            <a:ext cx="5257800" cy="2212848"/>
          </a:xfrm>
          <a:prstGeom prst="roundRect">
            <a:avLst>
              <a:gd name="adj" fmla="val 7000"/>
            </a:avLst>
          </a:prstGeom>
          <a:solidFill>
            <a:srgbClr val="14241E"/>
          </a:solidFill>
          <a:ln w="19050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383280"/>
            <a:ext cx="5221224" cy="7315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3639312"/>
            <a:ext cx="4636008" cy="17373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How It Runs in Production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9FB0D0"/>
                </a:solidFill>
                <a:latin typeface="Segoe UI"/>
              </a:rPr>
              <a:t>Containerized on ECS/EKS behind a load balancer, RDS-backed, fully observable — the deployment story on AWS.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C58B"/>
                </a:solidFill>
                <a:latin typeface="Segoe UI"/>
              </a:rPr>
              <a:t>Deployment  ·  Full Stack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Use the bar below to jump between sections at any time · click a card above to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Home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18" name="Rounded Rectangle 17">
            <a:hlinkClick r:id="rId4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19" name="Rounded Rectangle 18">
            <a:hlinkClick r:id="rId5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20" name="Rounded Rectangle 19">
            <a:hlinkClick r:id="rId3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21" name="Rounded Rectangle 20">
            <a:hlinkClick r:id="rId6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22" name="Rounded Rectangle 21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FLEETTRACK · 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Three Pillars, One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Real-time fleet tracking, crane booking &amp; AI-assisted vendor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1499616"/>
            <a:ext cx="3557930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655064"/>
            <a:ext cx="3265322" cy="20848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Next.js 16 (App Router), TypeScript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Live map — React Leaflet + MapTiler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Dashboards &amp; charts (Recharts)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AI Chat + Voice console (SSE streaming)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PDF export — html2canvas + jsPDF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8594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6882" y="1499616"/>
            <a:ext cx="355793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3186" y="1655064"/>
            <a:ext cx="3265322" cy="20848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Real-time &amp; AI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WebSocket telemetry push (live GPS)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SSE streaming for LLM chat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Ollama + Qwen 2.5 3B (local, no keys)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Voice agent — structured transcripts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Alert engine — overspeed / low-signal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268" y="1481328"/>
            <a:ext cx="3594506" cy="2395728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2556" y="1499616"/>
            <a:ext cx="355793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8860" y="1655064"/>
            <a:ext cx="3265322" cy="20848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Backend &amp; Data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FastAPI gateway, SQLAlchemy async ORM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Pydantic v2 schemas + validation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PostgreSQL 16 (Docker)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Razorpay payments (signature verified)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MQTT broker + GPS simulator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78224"/>
            <a:ext cx="11185855" cy="1700784"/>
          </a:xfrm>
          <a:prstGeom prst="roundRect">
            <a:avLst>
              <a:gd name="adj" fmla="val 5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" y="4096512"/>
            <a:ext cx="11149280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4261104"/>
            <a:ext cx="10673791" cy="133502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DD4BF"/>
                </a:solidFill>
                <a:latin typeface="Segoe UI"/>
              </a:rPr>
              <a:t>Request Flow</a:t>
            </a:r>
          </a:p>
          <a:p>
            <a:pPr marL="132000" indent="-1320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150" b="0" i="0">
                <a:solidFill>
                  <a:srgbClr val="9FB0D0"/>
                </a:solidFill>
                <a:latin typeface="Segoe UI"/>
              </a:rPr>
              <a:t>Operator → Next.js UI → FastAPI routes → service layer (equipment · bookings · payments · reports · chat/voice) → PostgreSQL; live GPS via MQTT → WebSocket push to the map</a:t>
            </a:r>
          </a:p>
          <a:p>
            <a:pPr marL="132000" indent="-1320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150" b="0" i="0">
                <a:solidFill>
                  <a:srgbClr val="9FB0D0"/>
                </a:solidFill>
                <a:latin typeface="Segoe UI"/>
              </a:rPr>
              <a:t>AI chat/voice → fleet context assembled server-side → Ollama LLM → streamed back over SSE; Razorpay checkout confirmed via verified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Phase 1 shipped: tracking, bookings, payments, reports  |  Phase 2: AI chat/voice, alert engine, geofencing,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Architecture</a:t>
            </a:r>
          </a:p>
        </p:txBody>
      </p:sp>
      <p:sp>
        <p:nvSpPr>
          <p:cNvPr id="25" name="Rounded Rectangle 24">
            <a:hlinkClick r:id="rId3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26" name="Rounded Rectangle 25">
            <a:hlinkClick r:id="rId4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27" name="Rounded Rectangle 26">
            <a:hlinkClick r:id="rId5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28" name="Rounded Rectangle 27">
            <a:hlinkClick r:id="rId6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29" name="Rounded Rectangle 28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DD4BF"/>
                </a:solidFill>
                <a:latin typeface="Segoe UI"/>
              </a:rPr>
              <a:t>FLEETTRACK · AS-BUILT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Layered Request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The exact flow implemented in the codebase (Next.js + FastAPI)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26464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0D1A3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426464"/>
            <a:ext cx="1298448" cy="7315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7672" y="1499616"/>
            <a:ext cx="4742535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93392" y="1499616"/>
            <a:ext cx="4651095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Operator 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Dashboard · Map · Bookings · Chat/Voice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1647" y="1499616"/>
            <a:ext cx="4742535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27367" y="1499616"/>
            <a:ext cx="4651095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GPS Devices / Simulator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MQTT telemetry publishers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67712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0A1F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" y="2267712"/>
            <a:ext cx="1298448" cy="7315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7672" y="2340864"/>
            <a:ext cx="313121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93392" y="2340864"/>
            <a:ext cx="303977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equipment · bookings · payments ·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0322" y="2340864"/>
            <a:ext cx="313121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6042" y="2340864"/>
            <a:ext cx="303977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Streaming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WebSocket telemetry · SSE chat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2972" y="2340864"/>
            <a:ext cx="313121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8692" y="2340864"/>
            <a:ext cx="303977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AI endpoints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/chat · /voice · fleet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08960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0D1A3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" y="3108960"/>
            <a:ext cx="1298448" cy="7315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47672" y="3182112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93392" y="3182112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Equipment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lifecycle FSM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1262" y="3182112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26982" y="3182112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Bookings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date-range + FSM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4852" y="3182112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60572" y="3182112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Payments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Razorpay verify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8442" y="3182112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4162" y="3182112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Reports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utilization +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2032" y="3182112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7752" y="3182112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Comm /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chat + voice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950208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0A221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" y="3950208"/>
            <a:ext cx="1298448" cy="7315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AI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Real-time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47672" y="4023360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93392" y="4023360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Qwen 2.5 3B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1262" y="4023360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26982" y="4023360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Voice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call transcripts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14852" y="4023360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60572" y="4023360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Alert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overspeed/signal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48442" y="4023360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94162" y="4023360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Geofencing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boundary zones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82032" y="4023360"/>
            <a:ext cx="1842150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27752" y="4023360"/>
            <a:ext cx="1750710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MQTT Bridge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GPS → WS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791456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1C12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" y="4791456"/>
            <a:ext cx="1298448" cy="7315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Data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External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47672" y="4864608"/>
            <a:ext cx="2325547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93392" y="4864608"/>
            <a:ext cx="2234107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PostgreSQL 16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fleet + bookings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64659" y="4864608"/>
            <a:ext cx="2325547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10379" y="4864608"/>
            <a:ext cx="2234107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Razorpay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payments API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81647" y="4864608"/>
            <a:ext cx="2325547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27367" y="4864608"/>
            <a:ext cx="2234107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MQTT Broker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Mosquitto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98635" y="4864608"/>
            <a:ext cx="2325547" cy="58521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4355" y="4864608"/>
            <a:ext cx="2234107" cy="58521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GPS Simulator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Python feeder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Flow: browser → gateway → service layer → PostgreSQL; GPS telemetry via MQTT → WebSocket; AI chat/voice via Ollama over SSE.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60" name="Rounded Rectangle 59">
            <a:hlinkClick r:id="rId3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As-Built</a:t>
            </a:r>
          </a:p>
        </p:txBody>
      </p:sp>
      <p:sp>
        <p:nvSpPr>
          <p:cNvPr id="62" name="Rounded Rectangle 61">
            <a:hlinkClick r:id="rId4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63" name="Rounded Rectangle 62">
            <a:hlinkClick r:id="rId5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64" name="Rounded Rectangle 63">
            <a:hlinkClick r:id="rId6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65" name="Rounded Rectangle 64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5CF6"/>
                </a:solidFill>
                <a:latin typeface="Segoe UI"/>
              </a:rPr>
              <a:t>FLEETTRACK · ENGINEERING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Built Production-Minded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Design decisions that make the POC production-ready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92343" cy="2157984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1481328"/>
            <a:ext cx="5455767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636776"/>
            <a:ext cx="5163159" cy="18470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Reliability &amp; State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Crane lifecycle is a guarded state machine: available → booked → working → repair → deceased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Payment signature verified server-side before a booking is confirmed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Ollama unreachable → graceful degraded reply, never a 5xx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50 pytest integration tests cover all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463040"/>
            <a:ext cx="5492343" cy="2157984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4719" y="1481328"/>
            <a:ext cx="5455767" cy="5029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1023" y="1636776"/>
            <a:ext cx="5163159" cy="18470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Real-time &amp; AI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WebSocket push keeps the map live without polling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SSE streams LLM tokens for responsive chat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LLM runs locally (Qwen 2.5 3B) — no data leaves the network, no API keys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Fleet context assembled server-side; prompt never trusts raw input blindly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22192"/>
            <a:ext cx="5492343" cy="2157984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208" y="3840480"/>
            <a:ext cx="5455767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995928"/>
            <a:ext cx="5163159" cy="18470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Extensibility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Service layer is modular — new domains plug in without touching routing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Voice agent is provider-agnostic (Twilio / Bland.ai ready)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Vendor &amp; product data is data-driven, not hard-coded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MapTiler / Razorpay keys are env-configurable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3822192"/>
            <a:ext cx="5492343" cy="2157984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4719" y="3840480"/>
            <a:ext cx="5455767" cy="5029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1023" y="3995928"/>
            <a:ext cx="5163159" cy="18470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Deployment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Dockerized PostgreSQL 16; backend on uvicorn, frontend on Node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Env-based secrets (Razorpay, Ollama, MapTiler)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Ollama + MQTT broker run as local containers/services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Clear path to ECS/EKS behind an ALB for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Stack: FastAPI · SQLAlchemy · Ollama (Qwen 2.5 3B) · Next.js 16 · PostgreSQL 16 · Razorpay · MQTT · Leaflet/MapTiler · Recharts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24" name="Rounded Rectangle 23">
            <a:hlinkClick r:id="rId3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25" name="Rounded Rectangle 24">
            <a:hlinkClick r:id="rId4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Highlights</a:t>
            </a:r>
          </a:p>
        </p:txBody>
      </p:sp>
      <p:sp>
        <p:nvSpPr>
          <p:cNvPr id="27" name="Rounded Rectangle 26">
            <a:hlinkClick r:id="rId5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28" name="Rounded Rectangle 27">
            <a:hlinkClick r:id="rId6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29" name="Rounded Rectangle 28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B301"/>
                </a:solidFill>
                <a:latin typeface="Segoe UI"/>
              </a:rPr>
              <a:t>FLEETTRACK ·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Cloud Deployment Architecture (AWS)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Containerized services on ECS/EKS behind a load balancer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26464"/>
            <a:ext cx="3594506" cy="26060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1444752"/>
            <a:ext cx="3557930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600200"/>
            <a:ext cx="3265322" cy="22951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Edge &amp; Load Balancing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Operator Browser — Next.js SPA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GPS Devices / Simulator — MQTT publishers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Application Load Balancer — HTTPS, path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8594" y="1426464"/>
            <a:ext cx="3594506" cy="26060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6882" y="1444752"/>
            <a:ext cx="355793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3186" y="1600200"/>
            <a:ext cx="3265322" cy="22951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ECS / EKS Cluster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Frontend Container — Node 20, Next.js standalone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Backend Container — Python 3.12, FastAPI, uvicorn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Agent / LLM Worker — Ollama (Qwen 2.5 3B), MQTT bridge, GPS ingest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268" y="1426464"/>
            <a:ext cx="3594506" cy="260604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2556" y="1444752"/>
            <a:ext cx="3557930" cy="5029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8860" y="1600200"/>
            <a:ext cx="3265322" cy="22951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Managed AWS Services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Amazon RDS — PostgreSQL 16, fleet + bookings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Amazon S3 — report PDFs / assets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Secrets Manager — DB · Razorpay · API keys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Amazon ECR — container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5492343" cy="141732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" y="4224528"/>
            <a:ext cx="5455767" cy="5029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4379976"/>
            <a:ext cx="5163159" cy="110642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External Integrations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Razorpay — UPI / cards / netbanking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MapTiler — map tiles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Twilio / Bland.ai — voice call-out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4206240"/>
            <a:ext cx="5492343" cy="1417320"/>
          </a:xfrm>
          <a:prstGeom prst="roundRect">
            <a:avLst>
              <a:gd name="adj" fmla="val 6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4719" y="4224528"/>
            <a:ext cx="5455767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1023" y="4379976"/>
            <a:ext cx="5163159" cy="110642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Observability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CloudWatch — logs &amp; alarms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Prometheus / Grafana — metrics</a:t>
            </a:r>
          </a:p>
          <a:p>
            <a:pPr marL="132000" indent="-132000" algn="l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9FB0D0"/>
                </a:solidFill>
                <a:latin typeface="Segoe UI"/>
              </a:rPr>
              <a:t>Health checks — /health probes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CI builds images → ECR → deployed to ECS/EKS. Local LLM keeps fleet data inside the account; payments via Razorpay.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27" name="Rounded Rectangle 26">
            <a:hlinkClick r:id="rId3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28" name="Rounded Rectangle 27">
            <a:hlinkClick r:id="rId4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29" name="Rounded Rectangle 28">
            <a:hlinkClick r:id="rId5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Deployment</a:t>
            </a:r>
          </a:p>
        </p:txBody>
      </p:sp>
      <p:sp>
        <p:nvSpPr>
          <p:cNvPr id="31" name="Rounded Rectangle 30">
            <a:hlinkClick r:id="rId6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32" name="Rounded Rectangle 31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C4899"/>
                </a:solidFill>
                <a:latin typeface="Segoe UI"/>
              </a:rPr>
              <a:t>FLEETTRACK · FULL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Complete Production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Edge, compute, AI, data, integrations, CI/CD — the full BOM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2646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221B0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142646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301"/>
                </a:solidFill>
                <a:latin typeface="Segoe UI"/>
              </a:rPr>
              <a:t>Edge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B301"/>
                </a:solidFill>
                <a:latin typeface="Segoe UI"/>
              </a:rPr>
              <a:t>Ingress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7672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93392" y="14996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CloudFront CDN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static assets, TLS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659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0379" y="14996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AWS WAF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rate limit, OWASP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1647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7367" y="14996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Route 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DNS, health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635" y="14996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44355" y="14996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5B301"/>
                </a:solidFill>
                <a:latin typeface="Segoe UI"/>
              </a:rPr>
              <a:t>ALB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path routing, HTTPS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04368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D1A3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" y="204368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Compute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D7BFF"/>
                </a:solidFill>
                <a:latin typeface="Segoe UI"/>
              </a:rPr>
              <a:t>(ECS/EKS)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47672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93392" y="21168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Next.js 16 · Node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4659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0379" y="21168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Backend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FastAPI · Py 3.12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1647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27367" y="21168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Realtime Worker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MQTT → WebSocket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635" y="21168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44355" y="21168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D7BFF"/>
                </a:solidFill>
                <a:latin typeface="Segoe UI"/>
              </a:rPr>
              <a:t>Ollama Sidecar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Qwen 2.5 3B local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66090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A1F3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" y="266090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Segoe UI"/>
              </a:rPr>
              <a:t>AI &amp; 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47672" y="273405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93392" y="273405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chat NL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4659" y="273405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0379" y="273405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Voice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transcripts + summary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1647" y="273405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7367" y="273405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Alert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overspeed / signal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635" y="273405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44355" y="273405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D3EE"/>
                </a:solidFill>
                <a:latin typeface="Segoe UI"/>
              </a:rPr>
              <a:t>Analytics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utilization scoring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27812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A221A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" y="327812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Data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C58B"/>
                </a:solidFill>
                <a:latin typeface="Segoe UI"/>
              </a:rPr>
              <a:t>Storage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47672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93392" y="335127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Amazon 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PostgreSQL 16, async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4659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0379" y="335127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Amazon 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report PDFs / docs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81647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27367" y="335127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MQTT Broker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telemetry stream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635" y="335127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4355" y="335127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2C58B"/>
                </a:solidFill>
                <a:latin typeface="Segoe UI"/>
              </a:rPr>
              <a:t>Migrations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versioned schema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89534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2A0F24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" y="389534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4899"/>
                </a:solidFill>
                <a:latin typeface="Segoe UI"/>
              </a:rPr>
              <a:t>Security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C4899"/>
                </a:solidFill>
                <a:latin typeface="Segoe UI"/>
              </a:rPr>
              <a:t>Governance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47672" y="396849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93392" y="396849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Auth / RBAC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role-based access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64659" y="396849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10379" y="396849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encryption keys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81647" y="396849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27367" y="396849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DB · Razorpay keys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98635" y="396849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44355" y="396849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C4899"/>
                </a:solidFill>
                <a:latin typeface="Segoe UI"/>
              </a:rPr>
              <a:t>Payment 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signature checks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51256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1C123C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" y="451256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Integrations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5CF6"/>
                </a:solidFill>
                <a:latin typeface="Segoe UI"/>
              </a:rPr>
              <a:t>&amp; Notify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47672" y="45857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993392" y="45857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Razorpay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UPI / card / netbank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64659" y="45857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10379" y="45857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Twilio / Bland.ai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voice call-out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81647" y="45857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7367" y="45857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MapTiler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map tiles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98635" y="458571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4355" y="458571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8B5CF6"/>
                </a:solidFill>
                <a:latin typeface="Segoe UI"/>
              </a:rPr>
              <a:t>SNS / 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SMS / email alerts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129784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6" y="5129784"/>
            <a:ext cx="1298448" cy="54864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0D0"/>
                </a:solidFill>
                <a:latin typeface="Segoe UI"/>
              </a:rPr>
              <a:t>Ops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0D0"/>
                </a:solidFill>
                <a:latin typeface="Segoe UI"/>
              </a:rPr>
              <a:t>CI/CD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947672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993392" y="52029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Prometheus + Grafana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metrics, dashboards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64659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410379" y="52029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CloudWatch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logs, alarms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781647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27367" y="52029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GitHub 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build → test → push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98635" y="5202936"/>
            <a:ext cx="2325547" cy="402336"/>
          </a:xfrm>
          <a:prstGeom prst="roundRect">
            <a:avLst>
              <a:gd name="adj" fmla="val 10000"/>
            </a:avLst>
          </a:prstGeom>
          <a:solidFill>
            <a:srgbClr val="172446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244355" y="5202936"/>
            <a:ext cx="2234107" cy="4023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0D0"/>
                </a:solidFill>
                <a:latin typeface="Segoe UI"/>
              </a:rPr>
              <a:t>Amazon ECR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0D0"/>
                </a:solidFill>
                <a:latin typeface="Segoe UI"/>
              </a:rPr>
              <a:t>image registry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Full production BOM: 7 layers · real-time GPS · local LLM (no external AI dependency) · payments via Razorpay · all fleet data stays in-account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82" name="Rounded Rectangle 81">
            <a:hlinkClick r:id="rId3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83" name="Rounded Rectangle 82">
            <a:hlinkClick r:id="rId4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84" name="Rounded Rectangle 83">
            <a:hlinkClick r:id="rId5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85" name="Rounded Rectangle 84">
            <a:hlinkClick r:id="rId6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Full Stack</a:t>
            </a:r>
          </a:p>
        </p:txBody>
      </p:sp>
      <p:sp>
        <p:nvSpPr>
          <p:cNvPr id="87" name="Rounded Rectangle 86">
            <a:hlinkClick r:id="rId7" action="ppaction://hlinksldjump"/>
          </p:cNvPr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8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0292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02920" y="265176"/>
            <a:ext cx="137160" cy="137160"/>
          </a:xfrm>
          <a:prstGeom prst="ellipse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86384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C58B"/>
                </a:solidFill>
                <a:latin typeface="Segoe UI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8503920" cy="4754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Production-Minded, Not Just 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896112"/>
            <a:ext cx="85039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0D0"/>
                </a:solidFill>
                <a:latin typeface="Segoe UI"/>
              </a:rPr>
              <a:t>The impact numbers behind FleetTrack, and what it's built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1463040"/>
            <a:ext cx="2622727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2476423" cy="116128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22D3EE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Core service domains — equipment, bookings, payments, reports, comms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03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3391" y="1463040"/>
            <a:ext cx="2622727" cy="64008"/>
          </a:xfrm>
          <a:prstGeom prst="rect">
            <a:avLst/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36543" y="1719072"/>
            <a:ext cx="2476423" cy="116128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22C58B"/>
                </a:solidFill>
                <a:latin typeface="Segoe UI"/>
              </a:rPr>
              <a:t>50+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Pytest integration tests covering every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5575" y="1463040"/>
            <a:ext cx="2622727" cy="64008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1719072"/>
            <a:ext cx="2476423" cy="116128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5B301"/>
                </a:solidFill>
                <a:latin typeface="Segoe U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API keys needed — the LLM runs locally via Ollama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471" y="1444752"/>
            <a:ext cx="2659303" cy="1572768"/>
          </a:xfrm>
          <a:prstGeom prst="roundRect">
            <a:avLst>
              <a:gd name="adj" fmla="val 7000"/>
            </a:avLst>
          </a:prstGeom>
          <a:solidFill>
            <a:srgbClr val="121D3A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47759" y="1463040"/>
            <a:ext cx="2622727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0911" y="1719072"/>
            <a:ext cx="2476423" cy="116128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C4899"/>
                </a:solidFill>
                <a:latin typeface="Segoe UI"/>
              </a:rPr>
              <a:t>Live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0D0"/>
                </a:solidFill>
                <a:latin typeface="Segoe UI"/>
              </a:rPr>
              <a:t>GPS telemetry pushed over WebSocket, no polling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55264"/>
            <a:ext cx="11185855" cy="859536"/>
          </a:xfrm>
          <a:prstGeom prst="roundRect">
            <a:avLst>
              <a:gd name="adj" fmla="val 7000"/>
            </a:avLst>
          </a:prstGeom>
          <a:solidFill>
            <a:srgbClr val="0E1832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1208" y="3273552"/>
            <a:ext cx="11149280" cy="50292"/>
          </a:xfrm>
          <a:prstGeom prst="rect">
            <a:avLst/>
          </a:prstGeom>
          <a:solidFill>
            <a:srgbClr val="3D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3374136"/>
            <a:ext cx="1737360" cy="62179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7BFF"/>
                </a:solidFill>
                <a:latin typeface="Segoe UI"/>
              </a:rPr>
              <a:t>Built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7440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Next.js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39312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FastAPI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46904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92624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PostgreSQL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0216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Ollama (Qwen 2.5 3B)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2088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07808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Razorpay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15400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MQTT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77272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22992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Leaflet / MapTiler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84864" y="3493008"/>
            <a:ext cx="1225296" cy="384048"/>
          </a:xfrm>
          <a:prstGeom prst="roundRect">
            <a:avLst>
              <a:gd name="adj" fmla="val 10000"/>
            </a:avLst>
          </a:prstGeom>
          <a:solidFill>
            <a:srgbClr val="142650"/>
          </a:solidFill>
          <a:ln w="9525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30584" y="3493008"/>
            <a:ext cx="1133856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AF0FF"/>
                </a:solidFill>
                <a:latin typeface="Segoe UI"/>
              </a:rPr>
              <a:t>Recharts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261104"/>
            <a:ext cx="11185855" cy="1152144"/>
          </a:xfrm>
          <a:prstGeom prst="roundRect">
            <a:avLst>
              <a:gd name="adj" fmla="val 7000"/>
            </a:avLst>
          </a:prstGeom>
          <a:solidFill>
            <a:srgbClr val="0C2A22"/>
          </a:solidFill>
          <a:ln w="15875">
            <a:solidFill>
              <a:srgbClr val="3D5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4407408"/>
            <a:ext cx="11185855" cy="8595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C58B"/>
                </a:solidFill>
                <a:latin typeface="Segoe UI"/>
              </a:rPr>
              <a:t>Real-time fleet visibility, smarter bookings, one platform  ·  Questions &amp; Discussion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C9C"/>
                </a:solidFill>
                <a:latin typeface="Segoe UI"/>
              </a:rPr>
              <a:t>teleGlobal — Elevating business to technology  |  click any label in the bar below to revisit a section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17920"/>
            <a:ext cx="12191695" cy="18288"/>
          </a:xfrm>
          <a:prstGeom prst="rect">
            <a:avLst/>
          </a:prstGeom>
          <a:solidFill>
            <a:srgbClr val="1E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hlinkClick r:id="rId2" action="ppaction://hlinksldjump"/>
          </p:cNvPr>
          <p:cNvSpPr/>
          <p:nvPr/>
        </p:nvSpPr>
        <p:spPr>
          <a:xfrm>
            <a:off x="50292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Home</a:t>
            </a:r>
          </a:p>
        </p:txBody>
      </p:sp>
      <p:sp>
        <p:nvSpPr>
          <p:cNvPr id="45" name="Rounded Rectangle 44">
            <a:hlinkClick r:id="rId3" action="ppaction://hlinksldjump"/>
          </p:cNvPr>
          <p:cNvSpPr/>
          <p:nvPr/>
        </p:nvSpPr>
        <p:spPr>
          <a:xfrm>
            <a:off x="211396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Architecture</a:t>
            </a:r>
          </a:p>
        </p:txBody>
      </p:sp>
      <p:sp>
        <p:nvSpPr>
          <p:cNvPr id="46" name="Rounded Rectangle 45">
            <a:hlinkClick r:id="rId4" action="ppaction://hlinksldjump"/>
          </p:cNvPr>
          <p:cNvSpPr/>
          <p:nvPr/>
        </p:nvSpPr>
        <p:spPr>
          <a:xfrm>
            <a:off x="3725004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As-Built</a:t>
            </a:r>
          </a:p>
        </p:txBody>
      </p:sp>
      <p:sp>
        <p:nvSpPr>
          <p:cNvPr id="47" name="Rounded Rectangle 46">
            <a:hlinkClick r:id="rId5" action="ppaction://hlinksldjump"/>
          </p:cNvPr>
          <p:cNvSpPr/>
          <p:nvPr/>
        </p:nvSpPr>
        <p:spPr>
          <a:xfrm>
            <a:off x="5336046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Highlights</a:t>
            </a:r>
          </a:p>
        </p:txBody>
      </p:sp>
      <p:sp>
        <p:nvSpPr>
          <p:cNvPr id="48" name="Rounded Rectangle 47">
            <a:hlinkClick r:id="rId6" action="ppaction://hlinksldjump"/>
          </p:cNvPr>
          <p:cNvSpPr/>
          <p:nvPr/>
        </p:nvSpPr>
        <p:spPr>
          <a:xfrm>
            <a:off x="6947088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Deployment</a:t>
            </a:r>
          </a:p>
        </p:txBody>
      </p:sp>
      <p:sp>
        <p:nvSpPr>
          <p:cNvPr id="49" name="Rounded Rectangle 48">
            <a:hlinkClick r:id="rId7" action="ppaction://hlinksldjump"/>
          </p:cNvPr>
          <p:cNvSpPr/>
          <p:nvPr/>
        </p:nvSpPr>
        <p:spPr>
          <a:xfrm>
            <a:off x="8558130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141F3C"/>
          </a:solidFill>
          <a:ln w="12700">
            <a:solidFill>
              <a:srgbClr val="2A3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9FB0D0"/>
                </a:solidFill>
                <a:latin typeface="Segoe UI"/>
              </a:rPr>
              <a:t>Full Stack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69172" y="6272784"/>
            <a:ext cx="1519602" cy="384048"/>
          </a:xfrm>
          <a:prstGeom prst="roundRect">
            <a:avLst>
              <a:gd name="adj" fmla="val 42000"/>
            </a:avLst>
          </a:prstGeom>
          <a:solidFill>
            <a:srgbClr val="22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>
                <a:solidFill>
                  <a:srgbClr val="060C1A"/>
                </a:solidFill>
                <a:latin typeface="Segoe UI"/>
              </a:rPr>
              <a:t>Closing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1286</Words>
  <Application>Microsoft Office PowerPoint</Application>
  <PresentationFormat>Widescreen</PresentationFormat>
  <Paragraphs>281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 Chavan</cp:lastModifiedBy>
  <cp:revision>1</cp:revision>
  <dcterms:created xsi:type="dcterms:W3CDTF">2013-01-27T09:14:16Z</dcterms:created>
  <dcterms:modified xsi:type="dcterms:W3CDTF">2026-09-02T12:53:52Z</dcterms:modified>
  <cp:category/>
</cp:coreProperties>
</file>